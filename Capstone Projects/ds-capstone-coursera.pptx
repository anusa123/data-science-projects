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2000"/>
  <p:notesSz cx="6858000" cy="1857375"/>
  <p:embeddedFontLst>
    <p:embeddedFont>
      <p:font typeface="IBM Plex Mono SemiBold"/>
      <p:regular r:id="rId53"/>
      <p:bold r:id="rId54"/>
      <p:italic r:id="rId55"/>
      <p:boldItalic r:id="rId56"/>
    </p:embeddedFont>
    <p:embeddedFont>
      <p:font typeface="Roboto Mono"/>
      <p:regular r:id="rId57"/>
      <p:bold r:id="rId58"/>
      <p:italic r:id="rId59"/>
      <p:boldItalic r:id="rId60"/>
    </p:embeddedFont>
    <p:embeddedFont>
      <p:font typeface="IBM Plex Mon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5" roundtripDataSignature="AMtx7mg3iMJq6J4ssVR/TUadjW245ZLB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BMPlexMono-bold.fntdata"/><Relationship Id="rId61" Type="http://schemas.openxmlformats.org/officeDocument/2006/relationships/font" Target="fonts/IBMPlexMono-regular.fntdata"/><Relationship Id="rId20" Type="http://schemas.openxmlformats.org/officeDocument/2006/relationships/slide" Target="slides/slide15.xml"/><Relationship Id="rId64" Type="http://schemas.openxmlformats.org/officeDocument/2006/relationships/font" Target="fonts/IBMPlexMono-boldItalic.fntdata"/><Relationship Id="rId63" Type="http://schemas.openxmlformats.org/officeDocument/2006/relationships/font" Target="fonts/IBMPlexMono-italic.fntdata"/><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IBMPlexMonoSemiBold-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IBMPlexMonoSemiBold-italic.fntdata"/><Relationship Id="rId10" Type="http://schemas.openxmlformats.org/officeDocument/2006/relationships/slide" Target="slides/slide5.xml"/><Relationship Id="rId54" Type="http://schemas.openxmlformats.org/officeDocument/2006/relationships/font" Target="fonts/IBMPlexMonoSemiBold-bold.fntdata"/><Relationship Id="rId13" Type="http://schemas.openxmlformats.org/officeDocument/2006/relationships/slide" Target="slides/slide8.xml"/><Relationship Id="rId57" Type="http://schemas.openxmlformats.org/officeDocument/2006/relationships/font" Target="fonts/RobotoMono-regular.fntdata"/><Relationship Id="rId12" Type="http://schemas.openxmlformats.org/officeDocument/2006/relationships/slide" Target="slides/slide7.xml"/><Relationship Id="rId56" Type="http://schemas.openxmlformats.org/officeDocument/2006/relationships/font" Target="fonts/IBMPlexMonoSemiBold-boldItalic.fntdata"/><Relationship Id="rId15" Type="http://schemas.openxmlformats.org/officeDocument/2006/relationships/slide" Target="slides/slide10.xml"/><Relationship Id="rId59" Type="http://schemas.openxmlformats.org/officeDocument/2006/relationships/font" Target="fonts/RobotoMono-italic.fntdata"/><Relationship Id="rId14" Type="http://schemas.openxmlformats.org/officeDocument/2006/relationships/slide" Target="slides/slide9.xml"/><Relationship Id="rId58" Type="http://schemas.openxmlformats.org/officeDocument/2006/relationships/font" Target="fonts/RobotoMon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9" name="Google Shape;11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2" name="Google Shape;202;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11" name="Shape 11"/>
        <p:cNvGrpSpPr/>
        <p:nvPr/>
      </p:nvGrpSpPr>
      <p:grpSpPr>
        <a:xfrm>
          <a:off x="0" y="0"/>
          <a:ext cx="0" cy="0"/>
          <a:chOff x="0" y="0"/>
          <a:chExt cx="0" cy="0"/>
        </a:xfrm>
      </p:grpSpPr>
      <p:sp>
        <p:nvSpPr>
          <p:cNvPr id="12" name="Google Shape;12;p49"/>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rgbClr val="005493"/>
              </a:buClr>
              <a:buSzPts val="4800"/>
              <a:buFont typeface="IBM Plex Mono SemiBold"/>
              <a:buNone/>
              <a:defRPr b="0" i="0" sz="4800" u="none" cap="none" strike="noStrike">
                <a:solidFill>
                  <a:srgbClr val="005493"/>
                </a:solidFill>
                <a:latin typeface="IBM Plex Mono SemiBold"/>
                <a:ea typeface="IBM Plex Mono SemiBold"/>
                <a:cs typeface="IBM Plex Mono SemiBold"/>
                <a:sym typeface="IBM Plex Mono Semi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49"/>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5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5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5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9" name="Google Shape;19;p5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 name="Google Shape;20;p51"/>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 name="Google Shape;21;p51"/>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ertical Title and Text">
  <p:cSld name="1_Vertical Title and Text">
    <p:spTree>
      <p:nvGrpSpPr>
        <p:cNvPr id="22" name="Shape 22"/>
        <p:cNvGrpSpPr/>
        <p:nvPr/>
      </p:nvGrpSpPr>
      <p:grpSpPr>
        <a:xfrm>
          <a:off x="0" y="0"/>
          <a:ext cx="0" cy="0"/>
          <a:chOff x="0" y="0"/>
          <a:chExt cx="0" cy="0"/>
        </a:xfrm>
      </p:grpSpPr>
      <p:sp>
        <p:nvSpPr>
          <p:cNvPr id="23" name="Google Shape;23;p52"/>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52"/>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3"/>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5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53"/>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53"/>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53"/>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4"/>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54"/>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5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54"/>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54"/>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5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55"/>
          <p:cNvSpPr txBox="1"/>
          <p:nvPr>
            <p:ph type="title"/>
          </p:nvPr>
        </p:nvSpPr>
        <p:spPr>
          <a:xfrm>
            <a:off x="839788"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Google Shape;40;p55"/>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55"/>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55"/>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55"/>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55"/>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55"/>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6" name="Google Shape;46;p55"/>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56"/>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56"/>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0" name="Google Shape;50;p56"/>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1" name="Google Shape;51;p56"/>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57"/>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57"/>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5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58"/>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9" name="Google Shape;59;p58"/>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0" name="Google Shape;60;p58"/>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1" name="Google Shape;61;p58"/>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58"/>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5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59"/>
          <p:cNvSpPr/>
          <p:nvPr>
            <p:ph idx="2" type="pic"/>
          </p:nvPr>
        </p:nvSpPr>
        <p:spPr>
          <a:xfrm>
            <a:off x="5183188" y="987425"/>
            <a:ext cx="6172200" cy="4873500"/>
          </a:xfrm>
          <a:prstGeom prst="rect">
            <a:avLst/>
          </a:prstGeom>
          <a:noFill/>
          <a:ln>
            <a:noFill/>
          </a:ln>
        </p:spPr>
      </p:sp>
      <p:sp>
        <p:nvSpPr>
          <p:cNvPr id="66" name="Google Shape;66;p59"/>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7" name="Google Shape;67;p59"/>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59"/>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59"/>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60"/>
          <p:cNvSpPr txBox="1"/>
          <p:nvPr>
            <p:ph type="title"/>
          </p:nvPr>
        </p:nvSpPr>
        <p:spPr>
          <a:xfrm>
            <a:off x="838200" y="365125"/>
            <a:ext cx="10515600" cy="13257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2" name="Google Shape;72;p60"/>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 name="Google Shape;73;p60"/>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4" name="Google Shape;74;p60"/>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5" name="Google Shape;75;p6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61"/>
          <p:cNvSpPr txBox="1"/>
          <p:nvPr>
            <p:ph type="title"/>
          </p:nvPr>
        </p:nvSpPr>
        <p:spPr>
          <a:xfrm rot="5400000">
            <a:off x="7133400" y="1956625"/>
            <a:ext cx="5811900"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8" name="Google Shape;78;p61"/>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9" name="Google Shape;79;p6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0" name="Google Shape;80;p61"/>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1" name="Google Shape;81;p61"/>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8"/>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hyperlink" Target="https://github.com/Anusa123/Data-Science-Projects/blob/main/Capstone%20Projects/jupyter-labs-spacex-data-collection-api.ipynb" TargetMode="External"/><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hyperlink" Target="https://github.com/Anusa123/Data-Science-Projects/blob/main/Capstone%20Projects/jupyter-labs-webscraping.ipynb" TargetMode="External"/><Relationship Id="rId5" Type="http://schemas.openxmlformats.org/officeDocument/2006/relationships/hyperlink" Target="https://github.com/Anusa123/Data-Science-Projects/blob/main/Capstone%20Projects/jupyter-labs-webscraping.ipynb" TargetMode="External"/><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hyperlink" Target="https://github.com/Anusa123/Data-Science-Projects/blob/main/Capstone%20Projects/jupyter-labs-spacex-data-collection-api.ipynb"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hyperlink" Target="https://github.com/Anusa123/Data-Science-Projects/blob/main/Capstone%20Projects/edadataviz.ipynb"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hyperlink" Target="https://github.com/Anusa123/Data-Science-Projects/blob/main/Capstone%20Projects/jupyter-labs-eda-sql-coursera_sqllite.ipynb"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hyperlink" Target="https://github.com/Anusa123/Data-Science-Projects/blob/main/Capstone%20Projects/lab_jupyter_launch_site_location.ipyn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hyperlink" Target="https://github.com/Anusa123/Data-Science-Projects/tree/main/Capstone%20Projects/interactive%20dash%20with%20plotl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hyperlink" Target="https://github.com/Anusa123/Data-Science-Projects/blob/main/Capstone%20Projects/SpaceX_Machine%20Learning%20Prediction_Part_5.ipynb"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9.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9.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9.png"/><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9.png"/><Relationship Id="rId4" Type="http://schemas.openxmlformats.org/officeDocument/2006/relationships/hyperlink" Target="https://github.com/Anusa123/Data-Science-Projects/blob/main/Capstone%20Projects/my_data1.db" TargetMode="External"/><Relationship Id="rId5" Type="http://schemas.openxmlformats.org/officeDocument/2006/relationships/hyperlink" Target="https://github.com/Anusa123/Data-Science-Projects/blob/main/Capstone%20Projects/interactive%20dash%20with%20plotly/spacex_launch_dash.csv" TargetMode="External"/><Relationship Id="rId6" Type="http://schemas.openxmlformats.org/officeDocument/2006/relationships/hyperlink" Target="https://github.com/Anusa123/Data-Science-Projects/tree/main/Capstone%20Project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3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
          <p:cNvSpPr txBox="1"/>
          <p:nvPr/>
        </p:nvSpPr>
        <p:spPr>
          <a:xfrm>
            <a:off x="888546" y="4568734"/>
            <a:ext cx="25146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Arial"/>
                <a:ea typeface="Arial"/>
                <a:cs typeface="Arial"/>
                <a:sym typeface="Arial"/>
              </a:rPr>
              <a:t>Grunttie Donald Anusa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US" sz="1800">
                <a:solidFill>
                  <a:schemeClr val="lt2"/>
                </a:solidFill>
              </a:rPr>
              <a:t>24</a:t>
            </a:r>
            <a:r>
              <a:rPr b="0" i="0" lang="en-US" sz="1800" u="none" cap="none" strike="noStrike">
                <a:solidFill>
                  <a:schemeClr val="lt2"/>
                </a:solidFill>
                <a:latin typeface="Arial"/>
                <a:ea typeface="Arial"/>
                <a:cs typeface="Arial"/>
                <a:sym typeface="Arial"/>
              </a:rPr>
              <a:t>/</a:t>
            </a:r>
            <a:r>
              <a:rPr lang="en-US" sz="1800">
                <a:solidFill>
                  <a:schemeClr val="lt2"/>
                </a:solidFill>
              </a:rPr>
              <a:t>02</a:t>
            </a:r>
            <a:r>
              <a:rPr b="0" i="0" lang="en-US" sz="1800" u="none" cap="none" strike="noStrike">
                <a:solidFill>
                  <a:schemeClr val="lt2"/>
                </a:solidFill>
                <a:latin typeface="Arial"/>
                <a:ea typeface="Arial"/>
                <a:cs typeface="Arial"/>
                <a:sym typeface="Arial"/>
              </a:rPr>
              <a:t>/202</a:t>
            </a:r>
            <a:r>
              <a:rPr lang="en-US" sz="1800">
                <a:solidFill>
                  <a:schemeClr val="lt2"/>
                </a:solidFill>
              </a:rPr>
              <a:t>6</a:t>
            </a:r>
            <a:endParaRPr b="0" i="0" sz="1400" u="none" cap="none" strike="noStrike">
              <a:solidFill>
                <a:srgbClr val="000000"/>
              </a:solidFill>
              <a:latin typeface="Arial"/>
              <a:ea typeface="Arial"/>
              <a:cs typeface="Arial"/>
              <a:sym typeface="Arial"/>
            </a:endParaRPr>
          </a:p>
        </p:txBody>
      </p:sp>
      <p:pic>
        <p:nvPicPr>
          <p:cNvPr descr="IBM Skills Network Logo - Horizontal-noai copy.png" id="87" name="Google Shape;87;p1"/>
          <p:cNvPicPr preferRelativeResize="0"/>
          <p:nvPr/>
        </p:nvPicPr>
        <p:blipFill rotWithShape="1">
          <a:blip r:embed="rId4">
            <a:alphaModFix/>
          </a:blip>
          <a:srcRect b="0" l="0" r="0" t="0"/>
          <a:stretch/>
        </p:blipFill>
        <p:spPr>
          <a:xfrm>
            <a:off x="889820" y="676828"/>
            <a:ext cx="2104101" cy="629183"/>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2"/>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94" name="Google Shape;94;p2"/>
          <p:cNvSpPr txBox="1"/>
          <p:nvPr/>
        </p:nvSpPr>
        <p:spPr>
          <a:xfrm>
            <a:off x="958697" y="2113240"/>
            <a:ext cx="5167200" cy="33207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Executive Summary</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Introduction</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Methodology</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Results</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Conclusion</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Appendix</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Outline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3"/>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01" name="Google Shape;101;p3"/>
          <p:cNvSpPr txBox="1"/>
          <p:nvPr/>
        </p:nvSpPr>
        <p:spPr>
          <a:xfrm>
            <a:off x="958900" y="1939250"/>
            <a:ext cx="9764400" cy="29016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chemeClr val="dk1"/>
                </a:solidFill>
              </a:rPr>
              <a:t>The objective of this project is to predict whether the Falcon 9 first stage will land successfully. SpaceX can offer launches at roughly 62 million dollars because they reuse the first stage, whereas other providers cost over 165 million dollars. By predicting landing success, we can determine the actual cost of a launch, providing valuable insight for competitors bidding against SpaceX</a:t>
            </a:r>
            <a:endParaRPr b="0" i="0" sz="2200" u="none" cap="none" strike="noStrike">
              <a:solidFill>
                <a:srgbClr val="000000"/>
              </a:solidFill>
              <a:latin typeface="Arial"/>
              <a:ea typeface="Arial"/>
              <a:cs typeface="Arial"/>
              <a:sym typeface="Arial"/>
            </a:endParaRPr>
          </a:p>
        </p:txBody>
      </p:sp>
      <p:sp>
        <p:nvSpPr>
          <p:cNvPr id="102" name="Google Shape;102;p3"/>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Executive Summary</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08" name="Google Shape;108;p4"/>
          <p:cNvSpPr txBox="1"/>
          <p:nvPr/>
        </p:nvSpPr>
        <p:spPr>
          <a:xfrm>
            <a:off x="828068" y="538650"/>
            <a:ext cx="105300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Introduction</a:t>
            </a:r>
            <a:endParaRPr b="0" i="0" sz="4000" u="none" cap="none" strike="noStrike">
              <a:solidFill>
                <a:srgbClr val="0B49CB"/>
              </a:solidFill>
              <a:latin typeface="IBM Plex Mono SemiBold"/>
              <a:ea typeface="IBM Plex Mono SemiBold"/>
              <a:cs typeface="IBM Plex Mono SemiBold"/>
              <a:sym typeface="IBM Plex Mono SemiBold"/>
            </a:endParaRPr>
          </a:p>
        </p:txBody>
      </p:sp>
      <p:sp>
        <p:nvSpPr>
          <p:cNvPr id="109" name="Google Shape;109;p4"/>
          <p:cNvSpPr txBox="1"/>
          <p:nvPr/>
        </p:nvSpPr>
        <p:spPr>
          <a:xfrm>
            <a:off x="1022925" y="2033550"/>
            <a:ext cx="10140300" cy="2947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400"/>
              </a:spcBef>
              <a:spcAft>
                <a:spcPts val="0"/>
              </a:spcAft>
              <a:buClr>
                <a:srgbClr val="292929"/>
              </a:buClr>
              <a:buSzPts val="2200"/>
              <a:buFont typeface="Arial"/>
              <a:buChar char="•"/>
            </a:pPr>
            <a:r>
              <a:rPr lang="en-US" sz="2200">
                <a:solidFill>
                  <a:srgbClr val="292929"/>
                </a:solidFill>
              </a:rPr>
              <a:t>SpaceX advertises Falcon 9 rocket launches on its website with a cost of 62 million dollars while other providers cost upward of 165 million dollars each, much of the savings is because SpaceX can reuse the first stage. Therefore, we will predict if the Falcon 9 first stage wll land successfully. Thus, if we can determine whether  the first stage will land, we can also determine the cost of a launch.Hence this information can be used if an alternate company wants to bid against SpaceX for a rocket launch.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5"/>
          <p:cNvSpPr txBox="1"/>
          <p:nvPr>
            <p:ph idx="12" type="sldNum"/>
          </p:nvPr>
        </p:nvSpPr>
        <p:spPr>
          <a:xfrm>
            <a:off x="94488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15" name="Google Shape;115;p5"/>
          <p:cNvSpPr txBox="1"/>
          <p:nvPr/>
        </p:nvSpPr>
        <p:spPr>
          <a:xfrm>
            <a:off x="765313" y="2812774"/>
            <a:ext cx="1058400" cy="369300"/>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Section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6"/>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22" name="Google Shape;122;p6"/>
          <p:cNvSpPr txBox="1"/>
          <p:nvPr/>
        </p:nvSpPr>
        <p:spPr>
          <a:xfrm>
            <a:off x="770011" y="1580808"/>
            <a:ext cx="10104900" cy="5211900"/>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120000"/>
              </a:lnSpc>
              <a:spcBef>
                <a:spcPts val="0"/>
              </a:spcBef>
              <a:spcAft>
                <a:spcPts val="0"/>
              </a:spcAft>
              <a:buClr>
                <a:srgbClr val="0B49CB"/>
              </a:buClr>
              <a:buSzPct val="100000"/>
              <a:buFont typeface="Arial"/>
              <a:buNone/>
            </a:pPr>
            <a:r>
              <a:rPr b="0" i="0" lang="en-US" sz="8800" u="none" cap="none" strike="noStrike">
                <a:solidFill>
                  <a:srgbClr val="0B49CB"/>
                </a:solidFill>
                <a:latin typeface="Arial"/>
                <a:ea typeface="Arial"/>
                <a:cs typeface="Arial"/>
                <a:sym typeface="Arial"/>
              </a:rPr>
              <a:t>Executive Summary</a:t>
            </a:r>
            <a:endParaRPr b="0" i="0" sz="1400" u="none" cap="none" strike="noStrike">
              <a:solidFill>
                <a:srgbClr val="000000"/>
              </a:solidFill>
              <a:latin typeface="Arial"/>
              <a:ea typeface="Arial"/>
              <a:cs typeface="Arial"/>
              <a:sym typeface="Arial"/>
            </a:endParaRPr>
          </a:p>
          <a:p>
            <a:pPr indent="-228600" lvl="0" marL="228600" marR="0" rtl="0" algn="l">
              <a:lnSpc>
                <a:spcPct val="120000"/>
              </a:lnSpc>
              <a:spcBef>
                <a:spcPts val="1400"/>
              </a:spcBef>
              <a:spcAft>
                <a:spcPts val="0"/>
              </a:spcAft>
              <a:buClr>
                <a:srgbClr val="292929"/>
              </a:buClr>
              <a:buSzPct val="100000"/>
              <a:buFont typeface="Arial"/>
              <a:buChar char="•"/>
            </a:pPr>
            <a:r>
              <a:rPr b="0" i="0" lang="en-US" sz="8800" u="none" cap="none" strike="noStrike">
                <a:solidFill>
                  <a:srgbClr val="292929"/>
                </a:solidFill>
                <a:latin typeface="Arial"/>
                <a:ea typeface="Arial"/>
                <a:cs typeface="Arial"/>
                <a:sym typeface="Arial"/>
              </a:rPr>
              <a:t>Data collection methodology:</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1400"/>
              </a:spcBef>
              <a:spcAft>
                <a:spcPts val="0"/>
              </a:spcAft>
              <a:buClr>
                <a:srgbClr val="757070"/>
              </a:buClr>
              <a:buSzPct val="100000"/>
              <a:buFont typeface="Arial"/>
              <a:buChar char="•"/>
            </a:pPr>
            <a:r>
              <a:rPr b="0" i="0" lang="en-US" sz="7600" u="none" cap="none" strike="noStrike">
                <a:solidFill>
                  <a:srgbClr val="757070"/>
                </a:solidFill>
                <a:latin typeface="Arial"/>
                <a:ea typeface="Arial"/>
                <a:cs typeface="Arial"/>
                <a:sym typeface="Arial"/>
              </a:rPr>
              <a:t>Describe how data was collected </a:t>
            </a:r>
            <a:endParaRPr b="0" i="0" sz="1400" u="none" cap="none" strike="noStrike">
              <a:solidFill>
                <a:srgbClr val="000000"/>
              </a:solidFill>
              <a:latin typeface="Arial"/>
              <a:ea typeface="Arial"/>
              <a:cs typeface="Arial"/>
              <a:sym typeface="Arial"/>
            </a:endParaRPr>
          </a:p>
          <a:p>
            <a:pPr indent="-228600" lvl="0" marL="228600" marR="0" rtl="0" algn="l">
              <a:lnSpc>
                <a:spcPct val="120000"/>
              </a:lnSpc>
              <a:spcBef>
                <a:spcPts val="1400"/>
              </a:spcBef>
              <a:spcAft>
                <a:spcPts val="0"/>
              </a:spcAft>
              <a:buClr>
                <a:srgbClr val="292929"/>
              </a:buClr>
              <a:buSzPct val="100000"/>
              <a:buFont typeface="Arial"/>
              <a:buChar char="•"/>
            </a:pPr>
            <a:r>
              <a:rPr b="0" i="0" lang="en-US" sz="8800" u="none" cap="none" strike="noStrike">
                <a:solidFill>
                  <a:srgbClr val="292929"/>
                </a:solidFill>
                <a:latin typeface="Arial"/>
                <a:ea typeface="Arial"/>
                <a:cs typeface="Arial"/>
                <a:sym typeface="Arial"/>
              </a:rPr>
              <a:t>Perform data wrangling</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1400"/>
              </a:spcBef>
              <a:spcAft>
                <a:spcPts val="0"/>
              </a:spcAft>
              <a:buClr>
                <a:srgbClr val="757070"/>
              </a:buClr>
              <a:buSzPct val="100000"/>
              <a:buFont typeface="Arial"/>
              <a:buChar char="•"/>
            </a:pPr>
            <a:r>
              <a:rPr b="0" i="0" lang="en-US" sz="7600" u="none" cap="none" strike="noStrike">
                <a:solidFill>
                  <a:srgbClr val="757070"/>
                </a:solidFill>
                <a:latin typeface="Arial"/>
                <a:ea typeface="Arial"/>
                <a:cs typeface="Arial"/>
                <a:sym typeface="Arial"/>
              </a:rPr>
              <a:t>Describe how data was processed</a:t>
            </a:r>
            <a:endParaRPr b="0" i="0" sz="1400" u="none" cap="none" strike="noStrike">
              <a:solidFill>
                <a:srgbClr val="000000"/>
              </a:solidFill>
              <a:latin typeface="Arial"/>
              <a:ea typeface="Arial"/>
              <a:cs typeface="Arial"/>
              <a:sym typeface="Arial"/>
            </a:endParaRPr>
          </a:p>
          <a:p>
            <a:pPr indent="-228600" lvl="0" marL="228600" marR="0" rtl="0" algn="l">
              <a:lnSpc>
                <a:spcPct val="120000"/>
              </a:lnSpc>
              <a:spcBef>
                <a:spcPts val="1400"/>
              </a:spcBef>
              <a:spcAft>
                <a:spcPts val="0"/>
              </a:spcAft>
              <a:buClr>
                <a:srgbClr val="292929"/>
              </a:buClr>
              <a:buSzPct val="100000"/>
              <a:buFont typeface="Arial"/>
              <a:buChar char="•"/>
            </a:pPr>
            <a:r>
              <a:rPr b="0" i="0" lang="en-US" sz="8800" u="none" cap="none" strike="noStrike">
                <a:solidFill>
                  <a:srgbClr val="292929"/>
                </a:solidFill>
                <a:latin typeface="Arial"/>
                <a:ea typeface="Arial"/>
                <a:cs typeface="Arial"/>
                <a:sym typeface="Arial"/>
              </a:rPr>
              <a:t>Perform exploratory data analysis (EDA) using visualization and SQL</a:t>
            </a:r>
            <a:endParaRPr b="0" i="0" sz="1400" u="none" cap="none" strike="noStrike">
              <a:solidFill>
                <a:srgbClr val="000000"/>
              </a:solidFill>
              <a:latin typeface="Arial"/>
              <a:ea typeface="Arial"/>
              <a:cs typeface="Arial"/>
              <a:sym typeface="Arial"/>
            </a:endParaRPr>
          </a:p>
          <a:p>
            <a:pPr indent="-228600" lvl="0" marL="228600" marR="0" rtl="0" algn="l">
              <a:lnSpc>
                <a:spcPct val="120000"/>
              </a:lnSpc>
              <a:spcBef>
                <a:spcPts val="1400"/>
              </a:spcBef>
              <a:spcAft>
                <a:spcPts val="0"/>
              </a:spcAft>
              <a:buClr>
                <a:srgbClr val="292929"/>
              </a:buClr>
              <a:buSzPct val="100000"/>
              <a:buFont typeface="Arial"/>
              <a:buChar char="•"/>
            </a:pPr>
            <a:r>
              <a:rPr b="0" i="0" lang="en-US" sz="8800" u="none" cap="none" strike="noStrike">
                <a:solidFill>
                  <a:srgbClr val="292929"/>
                </a:solidFill>
                <a:latin typeface="Arial"/>
                <a:ea typeface="Arial"/>
                <a:cs typeface="Arial"/>
                <a:sym typeface="Arial"/>
              </a:rPr>
              <a:t>Perform interactive visual analytics using Folium and Plotly Dash</a:t>
            </a:r>
            <a:endParaRPr b="0" i="0" sz="1400" u="none" cap="none" strike="noStrike">
              <a:solidFill>
                <a:srgbClr val="000000"/>
              </a:solidFill>
              <a:latin typeface="Arial"/>
              <a:ea typeface="Arial"/>
              <a:cs typeface="Arial"/>
              <a:sym typeface="Arial"/>
            </a:endParaRPr>
          </a:p>
          <a:p>
            <a:pPr indent="-228600" lvl="0" marL="228600" marR="0" rtl="0" algn="l">
              <a:lnSpc>
                <a:spcPct val="120000"/>
              </a:lnSpc>
              <a:spcBef>
                <a:spcPts val="1400"/>
              </a:spcBef>
              <a:spcAft>
                <a:spcPts val="0"/>
              </a:spcAft>
              <a:buClr>
                <a:srgbClr val="292929"/>
              </a:buClr>
              <a:buSzPct val="100000"/>
              <a:buFont typeface="Arial"/>
              <a:buChar char="•"/>
            </a:pPr>
            <a:r>
              <a:rPr b="0" i="0" lang="en-US" sz="8800" u="none" cap="none" strike="noStrike">
                <a:solidFill>
                  <a:srgbClr val="292929"/>
                </a:solidFill>
                <a:latin typeface="Arial"/>
                <a:ea typeface="Arial"/>
                <a:cs typeface="Arial"/>
                <a:sym typeface="Arial"/>
              </a:rPr>
              <a:t>Perform predictive analysis using classification models</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1400"/>
              </a:spcBef>
              <a:spcAft>
                <a:spcPts val="0"/>
              </a:spcAft>
              <a:buClr>
                <a:srgbClr val="757070"/>
              </a:buClr>
              <a:buSzPct val="100000"/>
              <a:buFont typeface="Arial"/>
              <a:buChar char="•"/>
            </a:pPr>
            <a:r>
              <a:rPr b="0" i="0" lang="en-US" sz="7600" u="none" cap="none" strike="noStrike">
                <a:solidFill>
                  <a:srgbClr val="757070"/>
                </a:solidFill>
                <a:latin typeface="Arial"/>
                <a:ea typeface="Arial"/>
                <a:cs typeface="Arial"/>
                <a:sym typeface="Arial"/>
              </a:rPr>
              <a:t>How to build, tune, evaluate classification models</a:t>
            </a:r>
            <a:endParaRPr b="0" i="0" sz="1400" u="none" cap="none" strike="noStrike">
              <a:solidFill>
                <a:srgbClr val="000000"/>
              </a:solidFill>
              <a:latin typeface="Arial"/>
              <a:ea typeface="Arial"/>
              <a:cs typeface="Arial"/>
              <a:sym typeface="Arial"/>
            </a:endParaRPr>
          </a:p>
          <a:p>
            <a:pPr indent="-88900" lvl="0" marL="228600" marR="0" rtl="0" algn="l">
              <a:lnSpc>
                <a:spcPct val="120000"/>
              </a:lnSpc>
              <a:spcBef>
                <a:spcPts val="1400"/>
              </a:spcBef>
              <a:spcAft>
                <a:spcPts val="0"/>
              </a:spcAft>
              <a:buClr>
                <a:srgbClr val="0070C0"/>
              </a:buClr>
              <a:buSzPct val="100000"/>
              <a:buFont typeface="Arial"/>
              <a:buNone/>
            </a:pPr>
            <a:r>
              <a:t/>
            </a:r>
            <a:endParaRPr b="0" i="0" sz="8800" u="none" cap="none" strike="noStrike">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b="0" i="0" sz="2200" u="none" cap="none" strike="noStrike">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b="0" i="0" sz="2200" u="none" cap="none" strike="noStrike">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b="0" i="0" sz="2200" u="none" cap="none" strike="noStrike">
              <a:solidFill>
                <a:srgbClr val="292929"/>
              </a:solidFill>
              <a:latin typeface="Arial"/>
              <a:ea typeface="Arial"/>
              <a:cs typeface="Arial"/>
              <a:sym typeface="Arial"/>
            </a:endParaRPr>
          </a:p>
          <a:p>
            <a:pPr indent="-193675" lvl="0" marL="228600" marR="0" rtl="0" algn="l">
              <a:lnSpc>
                <a:spcPct val="100000"/>
              </a:lnSpc>
              <a:spcBef>
                <a:spcPts val="1400"/>
              </a:spcBef>
              <a:spcAft>
                <a:spcPts val="0"/>
              </a:spcAft>
              <a:buClr>
                <a:srgbClr val="0070C0"/>
              </a:buClr>
              <a:buSzPct val="100000"/>
              <a:buFont typeface="Arial"/>
              <a:buNone/>
            </a:pPr>
            <a:r>
              <a:t/>
            </a:r>
            <a:endParaRPr b="0" i="0" sz="2200" u="none" cap="none" strike="noStrike">
              <a:solidFill>
                <a:srgbClr val="292929"/>
              </a:solidFill>
              <a:latin typeface="Arial"/>
              <a:ea typeface="Arial"/>
              <a:cs typeface="Arial"/>
              <a:sym typeface="Arial"/>
            </a:endParaRPr>
          </a:p>
        </p:txBody>
      </p:sp>
      <p:sp>
        <p:nvSpPr>
          <p:cNvPr id="123" name="Google Shape;123;p6"/>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Methodology</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7"/>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29" name="Google Shape;129;p7"/>
          <p:cNvSpPr txBox="1"/>
          <p:nvPr>
            <p:ph idx="1" type="body"/>
          </p:nvPr>
        </p:nvSpPr>
        <p:spPr>
          <a:xfrm>
            <a:off x="770011" y="1825625"/>
            <a:ext cx="10515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t>The data collection process used SpaceX REST API endpoints to access launch data. Followed by this was the HTTP GET request to retrieve data in JSON format and then parsed and </a:t>
            </a:r>
            <a:r>
              <a:rPr lang="en-US" sz="1800"/>
              <a:t>normalized</a:t>
            </a:r>
            <a:r>
              <a:rPr lang="en-US" sz="1800"/>
              <a:t> nested JSON responses into Pandas dataframe. I then filtered records to include only Falcon 9 launches and integrated additional data (rockets, payloads, cores) via ID-based REST calls. Lastly, the dataset was cleaned </a:t>
            </a:r>
            <a:r>
              <a:rPr lang="en-US" sz="1800"/>
              <a:t>and prepared</a:t>
            </a:r>
            <a:r>
              <a:rPr lang="en-US" sz="1800"/>
              <a:t> for downstream analysis.</a:t>
            </a:r>
            <a:endParaRPr b="0" i="0" sz="1800" u="none" cap="none" strike="noStrike">
              <a:solidFill>
                <a:schemeClr val="dk1"/>
              </a:solidFill>
              <a:latin typeface="Calibri"/>
              <a:ea typeface="Calibri"/>
              <a:cs typeface="Calibri"/>
              <a:sym typeface="Calibri"/>
            </a:endParaRPr>
          </a:p>
        </p:txBody>
      </p:sp>
      <p:sp>
        <p:nvSpPr>
          <p:cNvPr id="130" name="Google Shape;130;p7"/>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Data Collection</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8"/>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36" name="Google Shape;136;p8"/>
          <p:cNvSpPr txBox="1"/>
          <p:nvPr>
            <p:ph idx="1" type="body"/>
          </p:nvPr>
        </p:nvSpPr>
        <p:spPr>
          <a:xfrm>
            <a:off x="5910250" y="1444626"/>
            <a:ext cx="6003900" cy="4554600"/>
          </a:xfrm>
          <a:prstGeom prst="rect">
            <a:avLst/>
          </a:prstGeom>
          <a:noFill/>
          <a:ln cap="flat" cmpd="sng" w="9525">
            <a:solidFill>
              <a:srgbClr val="0B49CB"/>
            </a:solidFill>
            <a:prstDash val="dash"/>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rgbClr val="1C7DDB"/>
              </a:buClr>
              <a:buSzPts val="2200"/>
              <a:buFont typeface="Arial"/>
              <a:buNone/>
            </a:pPr>
            <a:r>
              <a:t/>
            </a:r>
            <a:endParaRPr b="0" i="0" sz="2800" u="none" cap="none" strike="noStrike">
              <a:solidFill>
                <a:schemeClr val="dk1"/>
              </a:solidFill>
              <a:latin typeface="Calibri"/>
              <a:ea typeface="Calibri"/>
              <a:cs typeface="Calibri"/>
              <a:sym typeface="Calibri"/>
            </a:endParaRPr>
          </a:p>
        </p:txBody>
      </p:sp>
      <p:sp>
        <p:nvSpPr>
          <p:cNvPr id="137" name="Google Shape;137;p8"/>
          <p:cNvSpPr txBox="1"/>
          <p:nvPr>
            <p:ph idx="2" type="body"/>
          </p:nvPr>
        </p:nvSpPr>
        <p:spPr>
          <a:xfrm>
            <a:off x="820738" y="1800225"/>
            <a:ext cx="4640400" cy="4225800"/>
          </a:xfrm>
          <a:prstGeom prst="rect">
            <a:avLst/>
          </a:prstGeom>
          <a:noFill/>
          <a:ln>
            <a:noFill/>
          </a:ln>
        </p:spPr>
        <p:txBody>
          <a:bodyPr anchorCtr="0" anchor="t" bIns="45700" lIns="91425" spcFirstLastPara="1" rIns="91425" wrap="square" tIns="45700">
            <a:normAutofit fontScale="77500" lnSpcReduction="20000"/>
          </a:bodyPr>
          <a:lstStyle/>
          <a:p>
            <a:pPr indent="0" lvl="0" marL="457200" marR="0" rtl="0" algn="l">
              <a:lnSpc>
                <a:spcPct val="100000"/>
              </a:lnSpc>
              <a:spcBef>
                <a:spcPts val="0"/>
              </a:spcBef>
              <a:spcAft>
                <a:spcPts val="0"/>
              </a:spcAft>
              <a:buNone/>
            </a:pPr>
            <a:r>
              <a:rPr b="0" i="0" lang="en-US" sz="2200" u="none" cap="none" strike="noStrike">
                <a:solidFill>
                  <a:srgbClr val="292929"/>
                </a:solidFill>
                <a:latin typeface="Arial"/>
                <a:ea typeface="Arial"/>
                <a:cs typeface="Arial"/>
                <a:sym typeface="Arial"/>
              </a:rPr>
              <a:t>key phrases </a:t>
            </a:r>
            <a:endParaRPr sz="2200">
              <a:solidFill>
                <a:srgbClr val="292929"/>
              </a:solidFill>
            </a:endParaRPr>
          </a:p>
          <a:p>
            <a:pPr indent="0" lvl="0" marL="0" marR="0" rtl="0" algn="l">
              <a:lnSpc>
                <a:spcPct val="100000"/>
              </a:lnSpc>
              <a:spcBef>
                <a:spcPts val="1400"/>
              </a:spcBef>
              <a:spcAft>
                <a:spcPts val="0"/>
              </a:spcAft>
              <a:buClr>
                <a:schemeClr val="dk1"/>
              </a:buClr>
              <a:buSzPct val="100000"/>
              <a:buFont typeface="Arial"/>
              <a:buNone/>
            </a:pPr>
            <a:r>
              <a:t/>
            </a:r>
            <a:endParaRPr b="0" i="0" sz="2200" u="none" cap="none" strike="noStrike">
              <a:solidFill>
                <a:srgbClr val="292929"/>
              </a:solidFill>
              <a:latin typeface="Arial"/>
              <a:ea typeface="Arial"/>
              <a:cs typeface="Arial"/>
              <a:sym typeface="Arial"/>
            </a:endParaRPr>
          </a:p>
          <a:p>
            <a:pPr indent="-197167" lvl="0" marL="228600" marR="0" rtl="0" algn="l">
              <a:lnSpc>
                <a:spcPct val="100000"/>
              </a:lnSpc>
              <a:spcBef>
                <a:spcPts val="1400"/>
              </a:spcBef>
              <a:spcAft>
                <a:spcPts val="0"/>
              </a:spcAft>
              <a:buClr>
                <a:srgbClr val="292929"/>
              </a:buClr>
              <a:buSzPct val="100000"/>
              <a:buChar char="•"/>
            </a:pPr>
            <a:r>
              <a:rPr lang="en-US" sz="2200">
                <a:solidFill>
                  <a:srgbClr val="292929"/>
                </a:solidFill>
              </a:rPr>
              <a:t>SpaceX REST API, Get Request,</a:t>
            </a:r>
            <a:endParaRPr sz="2200">
              <a:solidFill>
                <a:srgbClr val="292929"/>
              </a:solidFill>
            </a:endParaRPr>
          </a:p>
          <a:p>
            <a:pPr indent="-197167" lvl="0" marL="228600" marR="0" rtl="0" algn="l">
              <a:lnSpc>
                <a:spcPct val="100000"/>
              </a:lnSpc>
              <a:spcBef>
                <a:spcPts val="1400"/>
              </a:spcBef>
              <a:spcAft>
                <a:spcPts val="0"/>
              </a:spcAft>
              <a:buClr>
                <a:srgbClr val="292929"/>
              </a:buClr>
              <a:buSzPct val="100000"/>
              <a:buChar char="•"/>
            </a:pPr>
            <a:r>
              <a:rPr lang="en-US" sz="2200">
                <a:solidFill>
                  <a:srgbClr val="292929"/>
                </a:solidFill>
              </a:rPr>
              <a:t>primary endpoint, data enrichment, secondary API calls, foreign key iteration, JSON data processing, data normalization. </a:t>
            </a:r>
            <a:endParaRPr sz="2200">
              <a:solidFill>
                <a:srgbClr val="292929"/>
              </a:solidFill>
            </a:endParaRPr>
          </a:p>
          <a:p>
            <a:pPr indent="-336867" lvl="0" marL="457200" rtl="0" algn="l">
              <a:spcBef>
                <a:spcPts val="1400"/>
              </a:spcBef>
              <a:spcAft>
                <a:spcPts val="0"/>
              </a:spcAft>
              <a:buClr>
                <a:srgbClr val="292929"/>
              </a:buClr>
              <a:buSzPct val="100000"/>
              <a:buChar char="•"/>
            </a:pPr>
            <a:r>
              <a:rPr lang="en-US" sz="2200" u="sng">
                <a:solidFill>
                  <a:schemeClr val="hlink"/>
                </a:solidFill>
                <a:hlinkClick r:id="rId4"/>
              </a:rPr>
              <a:t>https://github.com/Anusa123/Data-Science-Projects/blob/main/Capstone%20Projects/jupyter-labs-spacex-data-collection-api.ipynb</a:t>
            </a:r>
            <a:endParaRPr sz="2200">
              <a:solidFill>
                <a:srgbClr val="292929"/>
              </a:solidFill>
            </a:endParaRPr>
          </a:p>
          <a:p>
            <a:pPr indent="0" lvl="0" marL="0" marR="0" rtl="0" algn="l">
              <a:lnSpc>
                <a:spcPct val="100000"/>
              </a:lnSpc>
              <a:spcBef>
                <a:spcPts val="1400"/>
              </a:spcBef>
              <a:spcAft>
                <a:spcPts val="0"/>
              </a:spcAft>
              <a:buNone/>
            </a:pPr>
            <a:r>
              <a:t/>
            </a:r>
            <a:endParaRPr sz="2200">
              <a:solidFill>
                <a:srgbClr val="292929"/>
              </a:solidFill>
            </a:endParaRPr>
          </a:p>
          <a:p>
            <a:pPr indent="-5080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
        <p:nvSpPr>
          <p:cNvPr id="138" name="Google Shape;138;p8"/>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Data Collection – SpaceX API</a:t>
            </a:r>
            <a:endParaRPr b="0" i="0" sz="1400" u="none" cap="none" strike="noStrike">
              <a:solidFill>
                <a:srgbClr val="000000"/>
              </a:solidFill>
              <a:latin typeface="Arial"/>
              <a:ea typeface="Arial"/>
              <a:cs typeface="Arial"/>
              <a:sym typeface="Arial"/>
            </a:endParaRPr>
          </a:p>
        </p:txBody>
      </p:sp>
      <p:pic>
        <p:nvPicPr>
          <p:cNvPr id="139" name="Google Shape;139;p8" title="data_collection_flowchart_v2.png"/>
          <p:cNvPicPr preferRelativeResize="0"/>
          <p:nvPr/>
        </p:nvPicPr>
        <p:blipFill>
          <a:blip r:embed="rId5">
            <a:alphaModFix/>
          </a:blip>
          <a:stretch>
            <a:fillRect/>
          </a:stretch>
        </p:blipFill>
        <p:spPr>
          <a:xfrm>
            <a:off x="5910250" y="1507425"/>
            <a:ext cx="5793152" cy="48114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 name="Shape 143"/>
        <p:cNvGrpSpPr/>
        <p:nvPr/>
      </p:nvGrpSpPr>
      <p:grpSpPr>
        <a:xfrm>
          <a:off x="0" y="0"/>
          <a:ext cx="0" cy="0"/>
          <a:chOff x="0" y="0"/>
          <a:chExt cx="0" cy="0"/>
        </a:xfrm>
      </p:grpSpPr>
      <p:sp>
        <p:nvSpPr>
          <p:cNvPr id="144" name="Google Shape;144;p9"/>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45" name="Google Shape;145;p9"/>
          <p:cNvSpPr txBox="1"/>
          <p:nvPr>
            <p:ph idx="1" type="body"/>
          </p:nvPr>
        </p:nvSpPr>
        <p:spPr>
          <a:xfrm>
            <a:off x="922411" y="1792288"/>
            <a:ext cx="3932100" cy="381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00"/>
              </a:spcBef>
              <a:spcAft>
                <a:spcPts val="0"/>
              </a:spcAft>
              <a:buClr>
                <a:schemeClr val="dk1"/>
              </a:buClr>
              <a:buSzPts val="2200"/>
              <a:buFont typeface="Arial"/>
              <a:buNone/>
            </a:pPr>
            <a:r>
              <a:t/>
            </a:r>
            <a:endParaRPr b="0" i="0" sz="2200" u="none" cap="none" strike="noStrike">
              <a:solidFill>
                <a:srgbClr val="292929"/>
              </a:solidFill>
              <a:latin typeface="Arial"/>
              <a:ea typeface="Arial"/>
              <a:cs typeface="Arial"/>
              <a:sym typeface="Arial"/>
            </a:endParaRPr>
          </a:p>
          <a:p>
            <a:pPr indent="0" lvl="0" marL="457200" marR="0" rtl="0" algn="l">
              <a:lnSpc>
                <a:spcPct val="100000"/>
              </a:lnSpc>
              <a:spcBef>
                <a:spcPts val="1400"/>
              </a:spcBef>
              <a:spcAft>
                <a:spcPts val="0"/>
              </a:spcAft>
              <a:buNone/>
            </a:pPr>
            <a:r>
              <a:rPr lang="en-US" sz="2200" u="sng">
                <a:solidFill>
                  <a:schemeClr val="hlink"/>
                </a:solidFill>
                <a:hlinkClick r:id="rId4"/>
              </a:rPr>
              <a:t>h</a:t>
            </a:r>
            <a:r>
              <a:rPr lang="en-US" sz="2200" u="sng">
                <a:solidFill>
                  <a:schemeClr val="hlink"/>
                </a:solidFill>
                <a:hlinkClick r:id="rId5"/>
              </a:rPr>
              <a:t>ttps://github.com/Anusa123/Data-Science-Projects/blob/main/Capstone%20Projects/jupyter-labs-webscraping.ipynb</a:t>
            </a:r>
            <a:endParaRPr sz="2200">
              <a:solidFill>
                <a:srgbClr val="292929"/>
              </a:solidFill>
            </a:endParaRPr>
          </a:p>
          <a:p>
            <a:pPr indent="0" lvl="0" marL="457200" marR="0" rtl="0" algn="l">
              <a:lnSpc>
                <a:spcPct val="100000"/>
              </a:lnSpc>
              <a:spcBef>
                <a:spcPts val="1400"/>
              </a:spcBef>
              <a:spcAft>
                <a:spcPts val="0"/>
              </a:spcAft>
              <a:buNone/>
            </a:pPr>
            <a:r>
              <a:t/>
            </a:r>
            <a:endParaRPr sz="2200">
              <a:solidFill>
                <a:srgbClr val="292929"/>
              </a:solidFill>
            </a:endParaRPr>
          </a:p>
        </p:txBody>
      </p:sp>
      <p:sp>
        <p:nvSpPr>
          <p:cNvPr id="146" name="Google Shape;146;p9"/>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05493"/>
              </a:buClr>
              <a:buSzPct val="100000"/>
              <a:buFont typeface="IBM Plex Mono SemiBold"/>
              <a:buNone/>
            </a:pPr>
            <a:r>
              <a:t/>
            </a:r>
            <a:endParaRPr b="0" i="0" sz="4000" u="none" cap="none" strike="noStrike">
              <a:solidFill>
                <a:srgbClr val="1C7DDB"/>
              </a:solidFill>
              <a:latin typeface="Arial"/>
              <a:ea typeface="Arial"/>
              <a:cs typeface="Arial"/>
              <a:sym typeface="Arial"/>
            </a:endParaRPr>
          </a:p>
        </p:txBody>
      </p:sp>
      <p:sp>
        <p:nvSpPr>
          <p:cNvPr id="147" name="Google Shape;147;p9"/>
          <p:cNvSpPr txBox="1"/>
          <p:nvPr/>
        </p:nvSpPr>
        <p:spPr>
          <a:xfrm>
            <a:off x="922411" y="6910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Data Collection - Scraping</a:t>
            </a:r>
            <a:endParaRPr b="0" i="0" sz="4000" u="none" cap="none" strike="noStrike">
              <a:solidFill>
                <a:srgbClr val="0B49CB"/>
              </a:solidFill>
              <a:latin typeface="IBM Plex Mono SemiBold"/>
              <a:ea typeface="IBM Plex Mono SemiBold"/>
              <a:cs typeface="IBM Plex Mono SemiBold"/>
              <a:sym typeface="IBM Plex Mono SemiBold"/>
            </a:endParaRPr>
          </a:p>
        </p:txBody>
      </p:sp>
      <p:sp>
        <p:nvSpPr>
          <p:cNvPr id="148" name="Google Shape;148;p9"/>
          <p:cNvSpPr txBox="1"/>
          <p:nvPr/>
        </p:nvSpPr>
        <p:spPr>
          <a:xfrm>
            <a:off x="5776575" y="1295150"/>
            <a:ext cx="6084600" cy="5351100"/>
          </a:xfrm>
          <a:prstGeom prst="rect">
            <a:avLst/>
          </a:prstGeom>
          <a:noFill/>
          <a:ln cap="flat" cmpd="sng" w="9525">
            <a:solidFill>
              <a:srgbClr val="0B49CB"/>
            </a:solidFill>
            <a:prstDash val="dash"/>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200"/>
              <a:buFont typeface="Arial"/>
              <a:buNone/>
            </a:pPr>
            <a:r>
              <a:t/>
            </a:r>
            <a:endParaRPr b="0" i="0" sz="2200" u="none" cap="none" strike="noStrike">
              <a:solidFill>
                <a:srgbClr val="1C7DDB"/>
              </a:solidFill>
              <a:latin typeface="Arial"/>
              <a:ea typeface="Arial"/>
              <a:cs typeface="Arial"/>
              <a:sym typeface="Arial"/>
            </a:endParaRPr>
          </a:p>
          <a:p>
            <a:pPr indent="0" lvl="0" marL="0" marR="0" rtl="0" algn="l">
              <a:lnSpc>
                <a:spcPct val="90000"/>
              </a:lnSpc>
              <a:spcBef>
                <a:spcPts val="1000"/>
              </a:spcBef>
              <a:spcAft>
                <a:spcPts val="0"/>
              </a:spcAft>
              <a:buClr>
                <a:srgbClr val="1C7DDB"/>
              </a:buClr>
              <a:buSzPts val="2200"/>
              <a:buFont typeface="Arial"/>
              <a:buNone/>
            </a:pPr>
            <a:r>
              <a:t/>
            </a:r>
            <a:endParaRPr b="0" i="0" sz="2800" u="none" cap="none" strike="noStrike">
              <a:solidFill>
                <a:schemeClr val="dk1"/>
              </a:solidFill>
              <a:latin typeface="Calibri"/>
              <a:ea typeface="Calibri"/>
              <a:cs typeface="Calibri"/>
              <a:sym typeface="Calibri"/>
            </a:endParaRPr>
          </a:p>
        </p:txBody>
      </p:sp>
      <p:pic>
        <p:nvPicPr>
          <p:cNvPr id="149" name="Google Shape;149;p9" title="webscraping_flowchart.png"/>
          <p:cNvPicPr preferRelativeResize="0"/>
          <p:nvPr/>
        </p:nvPicPr>
        <p:blipFill>
          <a:blip r:embed="rId6">
            <a:alphaModFix/>
          </a:blip>
          <a:stretch>
            <a:fillRect/>
          </a:stretch>
        </p:blipFill>
        <p:spPr>
          <a:xfrm>
            <a:off x="7733900" y="1419250"/>
            <a:ext cx="3119274" cy="4953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1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55" name="Google Shape;155;p10"/>
          <p:cNvSpPr txBox="1"/>
          <p:nvPr>
            <p:ph idx="1" type="body"/>
          </p:nvPr>
        </p:nvSpPr>
        <p:spPr>
          <a:xfrm>
            <a:off x="770003" y="1825625"/>
            <a:ext cx="6650100" cy="4351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292929"/>
              </a:buClr>
              <a:buSzPts val="2200"/>
              <a:buFont typeface="Arial"/>
              <a:buChar char="•"/>
            </a:pPr>
            <a:r>
              <a:rPr lang="en-US" sz="2200">
                <a:solidFill>
                  <a:srgbClr val="292929"/>
                </a:solidFill>
              </a:rPr>
              <a:t>Converted complex landing outcomes into a binary classification target for machine learning models.</a:t>
            </a:r>
            <a:endParaRPr sz="2200">
              <a:solidFill>
                <a:srgbClr val="292929"/>
              </a:solidFill>
            </a:endParaRPr>
          </a:p>
          <a:p>
            <a:pPr indent="-228600" lvl="0" marL="228600" marR="0" rtl="0" algn="l">
              <a:lnSpc>
                <a:spcPct val="90000"/>
              </a:lnSpc>
              <a:spcBef>
                <a:spcPts val="0"/>
              </a:spcBef>
              <a:spcAft>
                <a:spcPts val="0"/>
              </a:spcAft>
              <a:buClr>
                <a:srgbClr val="292929"/>
              </a:buClr>
              <a:buSzPts val="2200"/>
              <a:buChar char="•"/>
            </a:pPr>
            <a:r>
              <a:rPr lang="en-US" sz="2200">
                <a:solidFill>
                  <a:srgbClr val="292929"/>
                </a:solidFill>
              </a:rPr>
              <a:t>addressed missing values in critical featues using statistical imputation to maindata dataset integrity.</a:t>
            </a:r>
            <a:endParaRPr sz="2200">
              <a:solidFill>
                <a:srgbClr val="292929"/>
              </a:solidFill>
            </a:endParaRPr>
          </a:p>
          <a:p>
            <a:pPr indent="-228600" lvl="0" marL="228600" marR="0" rtl="0" algn="l">
              <a:lnSpc>
                <a:spcPct val="90000"/>
              </a:lnSpc>
              <a:spcBef>
                <a:spcPts val="0"/>
              </a:spcBef>
              <a:spcAft>
                <a:spcPts val="0"/>
              </a:spcAft>
              <a:buClr>
                <a:srgbClr val="292929"/>
              </a:buClr>
              <a:buSzPts val="2200"/>
              <a:buChar char="•"/>
            </a:pPr>
            <a:r>
              <a:rPr lang="en-US" sz="2200">
                <a:solidFill>
                  <a:srgbClr val="292929"/>
                </a:solidFill>
              </a:rPr>
              <a:t>Applied one-hot encoding to categorical variables, expanding the feature space for algorithm compatibity.</a:t>
            </a:r>
            <a:endParaRPr b="0" i="0" sz="1400" u="none" cap="none" strike="noStrike">
              <a:solidFill>
                <a:srgbClr val="000000"/>
              </a:solidFill>
              <a:latin typeface="Arial"/>
              <a:ea typeface="Arial"/>
              <a:cs typeface="Arial"/>
              <a:sym typeface="Arial"/>
            </a:endParaRPr>
          </a:p>
          <a:p>
            <a:pPr indent="-50800" lvl="0" marL="228600" marR="0" rtl="0" algn="l">
              <a:lnSpc>
                <a:spcPct val="90000"/>
              </a:lnSpc>
              <a:spcBef>
                <a:spcPts val="1000"/>
              </a:spcBef>
              <a:spcAft>
                <a:spcPts val="0"/>
              </a:spcAft>
              <a:buClr>
                <a:schemeClr val="dk1"/>
              </a:buClr>
              <a:buSzPts val="2800"/>
              <a:buFont typeface="Arial"/>
              <a:buNone/>
            </a:pPr>
            <a:r>
              <a:rPr lang="en-US" sz="2200" u="sng">
                <a:solidFill>
                  <a:schemeClr val="hlink"/>
                </a:solidFill>
                <a:hlinkClick r:id="rId4"/>
              </a:rPr>
              <a:t>https://github.com/Anusa123/Data-Science-Projects/blob/main/Capstone%20Projects/jupyter-labs-spacex-data-collection-api.ipynb</a:t>
            </a:r>
            <a:endParaRPr sz="22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sz="22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56" name="Google Shape;156;p10"/>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Data Wrangling</a:t>
            </a:r>
            <a:endParaRPr b="0" i="0" sz="1400" u="none" cap="none" strike="noStrike">
              <a:solidFill>
                <a:srgbClr val="000000"/>
              </a:solidFill>
              <a:latin typeface="Arial"/>
              <a:ea typeface="Arial"/>
              <a:cs typeface="Arial"/>
              <a:sym typeface="Arial"/>
            </a:endParaRPr>
          </a:p>
        </p:txBody>
      </p:sp>
      <p:sp>
        <p:nvSpPr>
          <p:cNvPr id="157" name="Google Shape;157;p10"/>
          <p:cNvSpPr/>
          <p:nvPr/>
        </p:nvSpPr>
        <p:spPr>
          <a:xfrm>
            <a:off x="8630975" y="1511025"/>
            <a:ext cx="2084400" cy="66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Cleaning</a:t>
            </a:r>
            <a:endParaRPr/>
          </a:p>
        </p:txBody>
      </p:sp>
      <p:sp>
        <p:nvSpPr>
          <p:cNvPr id="158" name="Google Shape;158;p10"/>
          <p:cNvSpPr/>
          <p:nvPr/>
        </p:nvSpPr>
        <p:spPr>
          <a:xfrm>
            <a:off x="8599925" y="2760300"/>
            <a:ext cx="2195100" cy="66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Imputation</a:t>
            </a:r>
            <a:endParaRPr/>
          </a:p>
        </p:txBody>
      </p:sp>
      <p:sp>
        <p:nvSpPr>
          <p:cNvPr id="159" name="Google Shape;159;p10"/>
          <p:cNvSpPr/>
          <p:nvPr/>
        </p:nvSpPr>
        <p:spPr>
          <a:xfrm>
            <a:off x="8630975" y="3773775"/>
            <a:ext cx="2084400" cy="82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Encoding</a:t>
            </a:r>
            <a:endParaRPr/>
          </a:p>
        </p:txBody>
      </p:sp>
      <p:sp>
        <p:nvSpPr>
          <p:cNvPr id="160" name="Google Shape;160;p10"/>
          <p:cNvSpPr/>
          <p:nvPr/>
        </p:nvSpPr>
        <p:spPr>
          <a:xfrm>
            <a:off x="8655275" y="4944450"/>
            <a:ext cx="2084400" cy="82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Scaling</a:t>
            </a:r>
            <a:endParaRPr/>
          </a:p>
        </p:txBody>
      </p:sp>
      <p:sp>
        <p:nvSpPr>
          <p:cNvPr id="161" name="Google Shape;161;p10"/>
          <p:cNvSpPr/>
          <p:nvPr/>
        </p:nvSpPr>
        <p:spPr>
          <a:xfrm>
            <a:off x="9565975" y="2183575"/>
            <a:ext cx="233400" cy="549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0"/>
          <p:cNvSpPr/>
          <p:nvPr/>
        </p:nvSpPr>
        <p:spPr>
          <a:xfrm>
            <a:off x="9556475" y="3381199"/>
            <a:ext cx="233400" cy="361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0"/>
          <p:cNvSpPr/>
          <p:nvPr/>
        </p:nvSpPr>
        <p:spPr>
          <a:xfrm>
            <a:off x="9556475" y="4630450"/>
            <a:ext cx="233400" cy="361800"/>
          </a:xfrm>
          <a:prstGeom prst="downArrow">
            <a:avLst>
              <a:gd fmla="val 18145"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11"/>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69" name="Google Shape;169;p11"/>
          <p:cNvSpPr txBox="1"/>
          <p:nvPr>
            <p:ph idx="1" type="body"/>
          </p:nvPr>
        </p:nvSpPr>
        <p:spPr>
          <a:xfrm>
            <a:off x="770000" y="1825625"/>
            <a:ext cx="10515600" cy="4351200"/>
          </a:xfrm>
          <a:prstGeom prst="rect">
            <a:avLst/>
          </a:prstGeom>
          <a:noFill/>
          <a:ln>
            <a:noFill/>
          </a:ln>
        </p:spPr>
        <p:txBody>
          <a:bodyPr anchorCtr="0" anchor="t" bIns="45700" lIns="91425" spcFirstLastPara="1" rIns="91425" wrap="square" tIns="45700">
            <a:noAutofit/>
          </a:bodyPr>
          <a:lstStyle/>
          <a:p>
            <a:pPr indent="-244475" lvl="0" marL="228600" marR="0" rtl="0" algn="l">
              <a:lnSpc>
                <a:spcPct val="100000"/>
              </a:lnSpc>
              <a:spcBef>
                <a:spcPts val="0"/>
              </a:spcBef>
              <a:spcAft>
                <a:spcPts val="0"/>
              </a:spcAft>
              <a:buClr>
                <a:srgbClr val="292929"/>
              </a:buClr>
              <a:buSzPts val="2500"/>
              <a:buFont typeface="Arial"/>
              <a:buChar char="•"/>
            </a:pPr>
            <a:r>
              <a:rPr lang="en-US" sz="2500">
                <a:solidFill>
                  <a:srgbClr val="292929"/>
                </a:solidFill>
              </a:rPr>
              <a:t>Scatter plots were used to see if there was any </a:t>
            </a:r>
            <a:r>
              <a:rPr lang="en-US" sz="2500">
                <a:solidFill>
                  <a:srgbClr val="292929"/>
                </a:solidFill>
              </a:rPr>
              <a:t>relationship</a:t>
            </a:r>
            <a:r>
              <a:rPr lang="en-US" sz="2500">
                <a:solidFill>
                  <a:srgbClr val="292929"/>
                </a:solidFill>
              </a:rPr>
              <a:t> between frequency of launces and weight of payload, distribution of launches across different sites and if certain launch sites are preferred for </a:t>
            </a:r>
            <a:r>
              <a:rPr lang="en-US" sz="2500">
                <a:solidFill>
                  <a:srgbClr val="292929"/>
                </a:solidFill>
              </a:rPr>
              <a:t>heavier</a:t>
            </a:r>
            <a:r>
              <a:rPr lang="en-US" sz="2500">
                <a:solidFill>
                  <a:srgbClr val="292929"/>
                </a:solidFill>
              </a:rPr>
              <a:t> payloads. Moreover bar chart was used to identify which orbits have the highest success rates and determine if the destination of the satellite impacts the landing probability of the first stage. Lastly, a line graph was used to visualise the launch success rate over time. </a:t>
            </a:r>
            <a:endParaRPr b="0" i="0" sz="1700" u="none" cap="none" strike="noStrike">
              <a:solidFill>
                <a:srgbClr val="000000"/>
              </a:solidFill>
              <a:latin typeface="Arial"/>
              <a:ea typeface="Arial"/>
              <a:cs typeface="Arial"/>
              <a:sym typeface="Arial"/>
            </a:endParaRPr>
          </a:p>
          <a:p>
            <a:pPr indent="0" lvl="0" marL="457200" marR="0" rtl="0" algn="l">
              <a:lnSpc>
                <a:spcPct val="100000"/>
              </a:lnSpc>
              <a:spcBef>
                <a:spcPts val="1400"/>
              </a:spcBef>
              <a:spcAft>
                <a:spcPts val="0"/>
              </a:spcAft>
              <a:buNone/>
            </a:pPr>
            <a:r>
              <a:rPr lang="en-US" sz="2500" u="sng">
                <a:solidFill>
                  <a:schemeClr val="hlink"/>
                </a:solidFill>
                <a:hlinkClick r:id="rId4"/>
              </a:rPr>
              <a:t>https://github.com/Anusa123/Data-Science-Projects/blob/main/Capstone%20Projects/edadataviz.ipynb</a:t>
            </a:r>
            <a:endParaRPr sz="2500">
              <a:solidFill>
                <a:srgbClr val="292929"/>
              </a:solidFill>
            </a:endParaRPr>
          </a:p>
          <a:p>
            <a:pPr indent="-247650" lvl="0" marL="228600" marR="0" rtl="0" algn="l">
              <a:lnSpc>
                <a:spcPct val="100000"/>
              </a:lnSpc>
              <a:spcBef>
                <a:spcPts val="1400"/>
              </a:spcBef>
              <a:spcAft>
                <a:spcPts val="0"/>
              </a:spcAft>
              <a:buClr>
                <a:srgbClr val="292929"/>
              </a:buClr>
              <a:buSzPts val="2500"/>
              <a:buChar char="•"/>
            </a:pPr>
            <a:r>
              <a:t/>
            </a:r>
            <a:endParaRPr sz="25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b="0" i="0" sz="3100" u="none" cap="none" strike="noStrike">
              <a:solidFill>
                <a:schemeClr val="dk1"/>
              </a:solidFill>
              <a:latin typeface="Calibri"/>
              <a:ea typeface="Calibri"/>
              <a:cs typeface="Calibri"/>
              <a:sym typeface="Calibri"/>
            </a:endParaRPr>
          </a:p>
        </p:txBody>
      </p:sp>
      <p:sp>
        <p:nvSpPr>
          <p:cNvPr id="170" name="Google Shape;170;p11"/>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EDA with Data Visualization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12"/>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76" name="Google Shape;176;p12"/>
          <p:cNvSpPr txBox="1"/>
          <p:nvPr>
            <p:ph idx="1" type="body"/>
          </p:nvPr>
        </p:nvSpPr>
        <p:spPr>
          <a:xfrm>
            <a:off x="770010" y="1806575"/>
            <a:ext cx="9745500" cy="4351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Identified 4 unique sites:   CCAFS LC40, VAFB SLC4E, KSC LC 39A, CCAFS SLC40.</a:t>
            </a:r>
            <a:endParaRPr sz="2200">
              <a:solidFill>
                <a:srgbClr val="292929"/>
              </a:solidFill>
            </a:endParaRPr>
          </a:p>
          <a:p>
            <a:pPr indent="-228600" lvl="0" marL="228600" marR="0" rtl="0" algn="l">
              <a:lnSpc>
                <a:spcPct val="100000"/>
              </a:lnSpc>
              <a:spcBef>
                <a:spcPts val="0"/>
              </a:spcBef>
              <a:spcAft>
                <a:spcPts val="0"/>
              </a:spcAft>
              <a:buClr>
                <a:srgbClr val="292929"/>
              </a:buClr>
              <a:buSzPts val="2200"/>
              <a:buChar char="•"/>
            </a:pPr>
            <a:r>
              <a:rPr lang="en-US" sz="2200">
                <a:solidFill>
                  <a:srgbClr val="292929"/>
                </a:solidFill>
              </a:rPr>
              <a:t>Calculated total NASA (CRS) payload mass 48,213 kg.</a:t>
            </a:r>
            <a:endParaRPr sz="2200">
              <a:solidFill>
                <a:srgbClr val="292929"/>
              </a:solidFill>
            </a:endParaRPr>
          </a:p>
          <a:p>
            <a:pPr indent="-228600" lvl="0" marL="228600" marR="0" rtl="0" algn="l">
              <a:lnSpc>
                <a:spcPct val="100000"/>
              </a:lnSpc>
              <a:spcBef>
                <a:spcPts val="0"/>
              </a:spcBef>
              <a:spcAft>
                <a:spcPts val="0"/>
              </a:spcAft>
              <a:buClr>
                <a:srgbClr val="292929"/>
              </a:buClr>
              <a:buSzPts val="2200"/>
              <a:buChar char="•"/>
            </a:pPr>
            <a:r>
              <a:rPr lang="en-US" sz="2200">
                <a:solidFill>
                  <a:srgbClr val="292929"/>
                </a:solidFill>
              </a:rPr>
              <a:t>Found the successful ground landing date to be 2015-12-22.</a:t>
            </a:r>
            <a:endParaRPr sz="2200">
              <a:solidFill>
                <a:srgbClr val="292929"/>
              </a:solidFill>
            </a:endParaRPr>
          </a:p>
          <a:p>
            <a:pPr indent="-228600" lvl="0" marL="228600" marR="0" rtl="0" algn="l">
              <a:lnSpc>
                <a:spcPct val="100000"/>
              </a:lnSpc>
              <a:spcBef>
                <a:spcPts val="0"/>
              </a:spcBef>
              <a:spcAft>
                <a:spcPts val="0"/>
              </a:spcAft>
              <a:buClr>
                <a:srgbClr val="292929"/>
              </a:buClr>
              <a:buSzPts val="2200"/>
              <a:buChar char="•"/>
            </a:pPr>
            <a:r>
              <a:rPr lang="en-US" sz="2200">
                <a:solidFill>
                  <a:srgbClr val="292929"/>
                </a:solidFill>
              </a:rPr>
              <a:t>Early ranking (2010-2017) shows ‘No attempt’ and ‘Success (drone ship) as dominant outcomes</a:t>
            </a:r>
            <a:endParaRPr sz="2200">
              <a:solidFill>
                <a:srgbClr val="292929"/>
              </a:solidFill>
            </a:endParaRPr>
          </a:p>
          <a:p>
            <a:pPr indent="0" lvl="0" marL="457200" marR="0" rtl="0" algn="l">
              <a:lnSpc>
                <a:spcPct val="100000"/>
              </a:lnSpc>
              <a:spcBef>
                <a:spcPts val="1400"/>
              </a:spcBef>
              <a:spcAft>
                <a:spcPts val="0"/>
              </a:spcAft>
              <a:buNone/>
            </a:pPr>
            <a:r>
              <a:rPr lang="en-US" sz="2200" u="sng">
                <a:solidFill>
                  <a:schemeClr val="hlink"/>
                </a:solidFill>
                <a:hlinkClick r:id="rId4"/>
              </a:rPr>
              <a:t>https://github.com/Anusa123/Data-Science-Projects/blob/main/Capstone%20Projects/jupyter-labs-eda-sql-coursera_sqllite.ipynb</a:t>
            </a:r>
            <a:endParaRPr sz="2200">
              <a:solidFill>
                <a:srgbClr val="292929"/>
              </a:solidFill>
            </a:endParaRPr>
          </a:p>
          <a:p>
            <a:pPr indent="0" lvl="0" marL="457200" marR="0" rtl="0" algn="l">
              <a:lnSpc>
                <a:spcPct val="100000"/>
              </a:lnSpc>
              <a:spcBef>
                <a:spcPts val="1400"/>
              </a:spcBef>
              <a:spcAft>
                <a:spcPts val="0"/>
              </a:spcAft>
              <a:buNone/>
            </a:pPr>
            <a:r>
              <a:t/>
            </a:r>
            <a:endParaRPr sz="22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7" name="Google Shape;177;p12"/>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EDA with SQL</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13"/>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83" name="Google Shape;183;p13"/>
          <p:cNvSpPr txBox="1"/>
          <p:nvPr>
            <p:ph idx="1" type="body"/>
          </p:nvPr>
        </p:nvSpPr>
        <p:spPr>
          <a:xfrm>
            <a:off x="838200" y="1875050"/>
            <a:ext cx="10619700" cy="4150500"/>
          </a:xfrm>
          <a:prstGeom prst="rect">
            <a:avLst/>
          </a:prstGeom>
          <a:noFill/>
          <a:ln>
            <a:noFill/>
          </a:ln>
        </p:spPr>
        <p:txBody>
          <a:bodyPr anchorCtr="0" anchor="t" bIns="45700" lIns="91425" spcFirstLastPara="1" rIns="91425" wrap="square" tIns="45700">
            <a:normAutofit lnSpcReduction="10000"/>
          </a:bodyPr>
          <a:lstStyle/>
          <a:p>
            <a:pPr indent="-387350" lvl="0" marL="457200" rtl="0" algn="l">
              <a:spcBef>
                <a:spcPts val="0"/>
              </a:spcBef>
              <a:spcAft>
                <a:spcPts val="0"/>
              </a:spcAft>
              <a:buClr>
                <a:srgbClr val="292929"/>
              </a:buClr>
              <a:buSzPts val="2500"/>
              <a:buChar char="•"/>
            </a:pPr>
            <a:r>
              <a:rPr b="1" lang="en-US">
                <a:solidFill>
                  <a:schemeClr val="dk1"/>
                </a:solidFill>
              </a:rPr>
              <a:t>Markers:</a:t>
            </a:r>
            <a:r>
              <a:rPr lang="en-US">
                <a:solidFill>
                  <a:schemeClr val="dk1"/>
                </a:solidFill>
              </a:rPr>
              <a:t> These represent specific geographic points on the map, often used to highlight locations with clickable popups and customizable icons.</a:t>
            </a:r>
            <a:endParaRPr>
              <a:solidFill>
                <a:schemeClr val="dk1"/>
              </a:solidFill>
            </a:endParaRPr>
          </a:p>
          <a:p>
            <a:pPr indent="-387350" lvl="0" marL="457200" rtl="0" algn="l">
              <a:spcBef>
                <a:spcPts val="0"/>
              </a:spcBef>
              <a:spcAft>
                <a:spcPts val="0"/>
              </a:spcAft>
              <a:buClr>
                <a:srgbClr val="292929"/>
              </a:buClr>
              <a:buSzPts val="2500"/>
              <a:buChar char="•"/>
            </a:pPr>
            <a:r>
              <a:rPr b="1" lang="en-US">
                <a:solidFill>
                  <a:schemeClr val="dk1"/>
                </a:solidFill>
              </a:rPr>
              <a:t>Circles:</a:t>
            </a:r>
            <a:r>
              <a:rPr lang="en-US">
                <a:solidFill>
                  <a:schemeClr val="dk1"/>
                </a:solidFill>
              </a:rPr>
              <a:t> These define a circular area around a specific coordinate, where the radius is measured in meters, making them ideal for visualizing zones or buffers.</a:t>
            </a:r>
            <a:endParaRPr>
              <a:solidFill>
                <a:schemeClr val="dk1"/>
              </a:solidFill>
            </a:endParaRPr>
          </a:p>
          <a:p>
            <a:pPr indent="-387350" lvl="0" marL="457200" rtl="0" algn="l">
              <a:spcBef>
                <a:spcPts val="0"/>
              </a:spcBef>
              <a:spcAft>
                <a:spcPts val="0"/>
              </a:spcAft>
              <a:buClr>
                <a:srgbClr val="292929"/>
              </a:buClr>
              <a:buSzPts val="2500"/>
              <a:buChar char="•"/>
            </a:pPr>
            <a:r>
              <a:rPr b="1" lang="en-US">
                <a:solidFill>
                  <a:schemeClr val="dk1"/>
                </a:solidFill>
              </a:rPr>
              <a:t>Polylines:</a:t>
            </a:r>
            <a:r>
              <a:rPr lang="en-US">
                <a:solidFill>
                  <a:schemeClr val="dk1"/>
                </a:solidFill>
              </a:rPr>
              <a:t> These are used to draw connected line segments—such as roads, flight paths, or boundaries—between a sequence of geographic coordinat</a:t>
            </a:r>
            <a:r>
              <a:rPr lang="en-US">
                <a:solidFill>
                  <a:schemeClr val="dk1"/>
                </a:solidFill>
              </a:rPr>
              <a:t>e</a:t>
            </a:r>
            <a:r>
              <a:rPr lang="en-US">
                <a:solidFill>
                  <a:schemeClr val="dk1"/>
                </a:solidFill>
              </a:rPr>
              <a:t>s.</a:t>
            </a:r>
            <a:endParaRPr sz="2500">
              <a:solidFill>
                <a:srgbClr val="292929"/>
              </a:solidFill>
            </a:endParaRPr>
          </a:p>
          <a:p>
            <a:pPr indent="-387350" lvl="0" marL="457200" rtl="0" algn="l">
              <a:spcBef>
                <a:spcPts val="0"/>
              </a:spcBef>
              <a:spcAft>
                <a:spcPts val="0"/>
              </a:spcAft>
              <a:buClr>
                <a:srgbClr val="292929"/>
              </a:buClr>
              <a:buSzPts val="2500"/>
              <a:buChar char="•"/>
            </a:pPr>
            <a:r>
              <a:rPr lang="en-US">
                <a:solidFill>
                  <a:schemeClr val="dk1"/>
                </a:solidFill>
              </a:rPr>
              <a:t>Adding these three elements transforms a static background map into a functional </a:t>
            </a:r>
            <a:r>
              <a:rPr b="1" lang="en-US">
                <a:solidFill>
                  <a:schemeClr val="dk1"/>
                </a:solidFill>
              </a:rPr>
              <a:t>data visualization tool</a:t>
            </a:r>
            <a:endParaRPr sz="1700"/>
          </a:p>
          <a:p>
            <a:pPr indent="-361950" lvl="0" marL="457200" rtl="0" algn="l">
              <a:spcBef>
                <a:spcPts val="0"/>
              </a:spcBef>
              <a:spcAft>
                <a:spcPts val="0"/>
              </a:spcAft>
              <a:buClr>
                <a:srgbClr val="292929"/>
              </a:buClr>
              <a:buSzPts val="2100"/>
              <a:buChar char="•"/>
            </a:pPr>
            <a:r>
              <a:rPr lang="en-US" sz="2000" u="sng">
                <a:solidFill>
                  <a:schemeClr val="hlink"/>
                </a:solidFill>
                <a:hlinkClick r:id="rId4"/>
              </a:rPr>
              <a:t>https://github.com/Anusa123/Data-Science-Projects/blob/main/Capstone%20Projects/lab_jupyter_launch_site_location.ipynb</a:t>
            </a:r>
            <a:endParaRPr sz="2000">
              <a:solidFill>
                <a:srgbClr val="292929"/>
              </a:solidFill>
            </a:endParaRPr>
          </a:p>
          <a:p>
            <a:pPr indent="-355600" lvl="0" marL="457200" rtl="0" algn="l">
              <a:spcBef>
                <a:spcPts val="0"/>
              </a:spcBef>
              <a:spcAft>
                <a:spcPts val="0"/>
              </a:spcAft>
              <a:buClr>
                <a:srgbClr val="292929"/>
              </a:buClr>
              <a:buSzPts val="2000"/>
              <a:buChar char="•"/>
            </a:pPr>
            <a:r>
              <a:t/>
            </a:r>
            <a:endParaRPr sz="20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4" name="Google Shape;184;p13"/>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Build an Interactive Map with Folium</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1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90" name="Google Shape;190;p14"/>
          <p:cNvSpPr txBox="1"/>
          <p:nvPr>
            <p:ph idx="1" type="body"/>
          </p:nvPr>
        </p:nvSpPr>
        <p:spPr>
          <a:xfrm>
            <a:off x="770010" y="1825625"/>
            <a:ext cx="97455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We included scatter plots, pie charts and a range to the dashboard with plotly dash.</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Scatter plots, pie charts and a range were added in order to show relationships between 2 different items of interest for example payload size vs launch outcome.</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lang="en-US" sz="2200" u="sng">
                <a:solidFill>
                  <a:schemeClr val="hlink"/>
                </a:solidFill>
                <a:hlinkClick r:id="rId4"/>
              </a:rPr>
              <a:t>https://github.com/Anusa123/Data-Science-Projects/tree/main/Capstone%20Projects/interactive%20dash%20with%20plotly</a:t>
            </a:r>
            <a:endParaRPr sz="2200">
              <a:solidFill>
                <a:srgbClr val="292929"/>
              </a:solidFill>
            </a:endParaRPr>
          </a:p>
          <a:p>
            <a:pPr indent="-228600" lvl="0" marL="228600" marR="0" rtl="0" algn="l">
              <a:lnSpc>
                <a:spcPct val="100000"/>
              </a:lnSpc>
              <a:spcBef>
                <a:spcPts val="1400"/>
              </a:spcBef>
              <a:spcAft>
                <a:spcPts val="0"/>
              </a:spcAft>
              <a:buClr>
                <a:srgbClr val="292929"/>
              </a:buClr>
              <a:buSzPts val="2200"/>
              <a:buChar char="•"/>
            </a:pPr>
            <a:r>
              <a:t/>
            </a:r>
            <a:endParaRPr sz="2200">
              <a:solidFill>
                <a:srgbClr val="292929"/>
              </a:solidFil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91" name="Google Shape;191;p14"/>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Build a Dashboard with Plotly Dash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p15"/>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197" name="Google Shape;197;p15"/>
          <p:cNvSpPr txBox="1"/>
          <p:nvPr>
            <p:ph idx="1" type="body"/>
          </p:nvPr>
        </p:nvSpPr>
        <p:spPr>
          <a:xfrm>
            <a:off x="770002" y="1825625"/>
            <a:ext cx="7867500" cy="4351200"/>
          </a:xfrm>
          <a:prstGeom prst="rect">
            <a:avLst/>
          </a:prstGeom>
          <a:noFill/>
          <a:ln>
            <a:noFill/>
          </a:ln>
        </p:spPr>
        <p:txBody>
          <a:bodyPr anchorCtr="0" anchor="t" bIns="45700" lIns="91425" spcFirstLastPara="1" rIns="91425" wrap="square" tIns="45700">
            <a:normAutofit fontScale="85000" lnSpcReduction="20000"/>
          </a:bodyPr>
          <a:lstStyle/>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Build</a:t>
            </a:r>
            <a:r>
              <a:rPr lang="en-US" sz="1300">
                <a:solidFill>
                  <a:schemeClr val="dk1"/>
                </a:solidFill>
              </a:rPr>
              <a:t>: I began by loading the dataset and creating a target variable Class (1 for a successful landing, 0 for failure). I used One-Hot Encoding to convert categorical variables into binary features and then standardized the data using StandardScaler to ensure all features contributed equally to the model.</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Evaluate</a:t>
            </a:r>
            <a:r>
              <a:rPr lang="en-US" sz="1300">
                <a:solidFill>
                  <a:schemeClr val="dk1"/>
                </a:solidFill>
              </a:rPr>
              <a:t>: I split the data into 80% training and 20% testing sets. I evaluated four classification algorithms: Logistic Regression, Support Vector Machine (SVM), Decision Tree, and K-Nearest Neighbors (KNN).</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Improve</a:t>
            </a:r>
            <a:r>
              <a:rPr lang="en-US" sz="1300">
                <a:solidFill>
                  <a:schemeClr val="dk1"/>
                </a:solidFill>
              </a:rPr>
              <a:t>: To optimize the models, I performed Hyperparameter Tuning using GridSearchCV with 10-fold cross-validation. This allowed me to find the most effective parameters to prevent overfitting and improve accuracy.</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Find Best Model</a:t>
            </a:r>
            <a:r>
              <a:rPr lang="en-US" sz="1300">
                <a:solidFill>
                  <a:schemeClr val="dk1"/>
                </a:solidFill>
              </a:rPr>
              <a:t>: I compared the models based on their Test Accuracy and Confusion Matrices. While all models performed similarly on the test set (approx. 83.33%), the Decision Tree often emerged as a preferred model in this specific lab context due to its slightly better handling of the specific feature set during cross-validation.</a:t>
            </a:r>
            <a:endParaRPr sz="1300">
              <a:solidFill>
                <a:schemeClr val="dk1"/>
              </a:solidFill>
            </a:endParaRPr>
          </a:p>
          <a:p>
            <a:pPr indent="0" lvl="0" marL="0" rtl="0" algn="l">
              <a:lnSpc>
                <a:spcPct val="115000"/>
              </a:lnSpc>
              <a:spcBef>
                <a:spcPts val="1400"/>
              </a:spcBef>
              <a:spcAft>
                <a:spcPts val="0"/>
              </a:spcAft>
              <a:buNone/>
            </a:pPr>
            <a:r>
              <a:rPr b="1" lang="en-US" sz="1300">
                <a:solidFill>
                  <a:schemeClr val="dk1"/>
                </a:solidFill>
              </a:rPr>
              <a:t> Key Phrases</a:t>
            </a:r>
            <a:endParaRPr b="1" sz="1300">
              <a:solidFill>
                <a:schemeClr val="dk1"/>
              </a:solidFill>
            </a:endParaRPr>
          </a:p>
          <a:p>
            <a:pPr indent="-298767" lvl="0" marL="457200" rtl="0" algn="l">
              <a:lnSpc>
                <a:spcPct val="115000"/>
              </a:lnSpc>
              <a:spcBef>
                <a:spcPts val="1200"/>
              </a:spcBef>
              <a:spcAft>
                <a:spcPts val="0"/>
              </a:spcAft>
              <a:buClr>
                <a:schemeClr val="dk1"/>
              </a:buClr>
              <a:buSzPct val="100000"/>
              <a:buChar char="●"/>
            </a:pPr>
            <a:r>
              <a:rPr b="1" lang="en-US" sz="1300">
                <a:solidFill>
                  <a:schemeClr val="dk1"/>
                </a:solidFill>
              </a:rPr>
              <a:t>Data Standardization</a:t>
            </a:r>
            <a:r>
              <a:rPr lang="en-US" sz="1300">
                <a:solidFill>
                  <a:schemeClr val="dk1"/>
                </a:solidFill>
              </a:rPr>
              <a:t>: Scaled features to a mean of zero and unit variance.</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Train/Test Split</a:t>
            </a:r>
            <a:r>
              <a:rPr lang="en-US" sz="1300">
                <a:solidFill>
                  <a:schemeClr val="dk1"/>
                </a:solidFill>
              </a:rPr>
              <a:t>: Separated data to validate model performance on unseen data.</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GridSearchCV</a:t>
            </a:r>
            <a:r>
              <a:rPr lang="en-US" sz="1300">
                <a:solidFill>
                  <a:schemeClr val="dk1"/>
                </a:solidFill>
              </a:rPr>
              <a:t>: Automated the search for the best hyperparameters via cross-validation.</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Confusion Matrix</a:t>
            </a:r>
            <a:r>
              <a:rPr lang="en-US" sz="1300">
                <a:solidFill>
                  <a:schemeClr val="dk1"/>
                </a:solidFill>
              </a:rPr>
              <a:t>: Visualized True Positives, False Positives, and accuracy for each class.</a:t>
            </a:r>
            <a:endParaRPr sz="1300">
              <a:solidFill>
                <a:schemeClr val="dk1"/>
              </a:solidFill>
            </a:endParaRPr>
          </a:p>
          <a:p>
            <a:pPr indent="-298767" lvl="0" marL="457200" rtl="0" algn="l">
              <a:lnSpc>
                <a:spcPct val="115000"/>
              </a:lnSpc>
              <a:spcBef>
                <a:spcPts val="0"/>
              </a:spcBef>
              <a:spcAft>
                <a:spcPts val="0"/>
              </a:spcAft>
              <a:buClr>
                <a:schemeClr val="dk1"/>
              </a:buClr>
              <a:buSzPct val="100000"/>
              <a:buChar char="●"/>
            </a:pPr>
            <a:r>
              <a:rPr b="1" lang="en-US" sz="1300">
                <a:solidFill>
                  <a:schemeClr val="dk1"/>
                </a:solidFill>
              </a:rPr>
              <a:t>Hyperparameter Tuning</a:t>
            </a:r>
            <a:r>
              <a:rPr lang="en-US" sz="1300">
                <a:solidFill>
                  <a:schemeClr val="dk1"/>
                </a:solidFill>
              </a:rPr>
              <a:t>: Adjusted model settings (e.g., kernels, leaf sizes) for optimal fit</a:t>
            </a:r>
            <a:endParaRPr sz="1300">
              <a:solidFill>
                <a:schemeClr val="dk1"/>
              </a:solidFill>
            </a:endParaRPr>
          </a:p>
          <a:p>
            <a:pPr indent="0" lvl="0" marL="457200" marR="0" rtl="0" algn="l">
              <a:lnSpc>
                <a:spcPct val="100000"/>
              </a:lnSpc>
              <a:spcBef>
                <a:spcPts val="1400"/>
              </a:spcBef>
              <a:spcAft>
                <a:spcPts val="0"/>
              </a:spcAft>
              <a:buNone/>
            </a:pPr>
            <a:r>
              <a:rPr lang="en-US" sz="1800" u="sng">
                <a:solidFill>
                  <a:schemeClr val="hlink"/>
                </a:solidFill>
                <a:hlinkClick r:id="rId4"/>
              </a:rPr>
              <a:t>https://github.com/Anusa123/Data-Science-Projects/blob/main/Capstone%20Projects/SpaceX_Machine%20Learning%20Prediction_Part_5.ipynb</a:t>
            </a:r>
            <a:endParaRPr sz="1800">
              <a:solidFill>
                <a:srgbClr val="292929"/>
              </a:solidFill>
            </a:endParaRPr>
          </a:p>
          <a:p>
            <a:pPr indent="0" lvl="0" marL="457200" marR="0" rtl="0" algn="l">
              <a:lnSpc>
                <a:spcPct val="100000"/>
              </a:lnSpc>
              <a:spcBef>
                <a:spcPts val="1400"/>
              </a:spcBef>
              <a:spcAft>
                <a:spcPts val="0"/>
              </a:spcAft>
              <a:buNone/>
            </a:pPr>
            <a:r>
              <a:t/>
            </a:r>
            <a:endParaRPr sz="1800">
              <a:solidFill>
                <a:srgbClr val="292929"/>
              </a:solidFill>
            </a:endParaRPr>
          </a:p>
          <a:p>
            <a:pPr indent="-5080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
        <p:nvSpPr>
          <p:cNvPr id="198" name="Google Shape;198;p15"/>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Predictive Analysis (Classification)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16"/>
          <p:cNvSpPr txBox="1"/>
          <p:nvPr/>
        </p:nvSpPr>
        <p:spPr>
          <a:xfrm>
            <a:off x="841125" y="1807325"/>
            <a:ext cx="4211700" cy="33717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l">
              <a:lnSpc>
                <a:spcPct val="115000"/>
              </a:lnSpc>
              <a:spcBef>
                <a:spcPts val="1400"/>
              </a:spcBef>
              <a:spcAft>
                <a:spcPts val="0"/>
              </a:spcAft>
              <a:buNone/>
            </a:pPr>
            <a:r>
              <a:rPr b="1" lang="en-US" sz="1300">
                <a:solidFill>
                  <a:schemeClr val="dk1"/>
                </a:solidFill>
              </a:rPr>
              <a:t>1. Exploratory Data Analysis (EDA) Results</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The EDA phase utilized both SQL and Python visualization (Matplotlib/Seaborn) to uncover patterns in the launch data:</a:t>
            </a:r>
            <a:endParaRPr sz="1100">
              <a:solidFill>
                <a:schemeClr val="dk1"/>
              </a:solidFill>
            </a:endParaRPr>
          </a:p>
          <a:p>
            <a:pPr indent="-282733" lvl="0" marL="457200" rtl="0" algn="l">
              <a:lnSpc>
                <a:spcPct val="115000"/>
              </a:lnSpc>
              <a:spcBef>
                <a:spcPts val="1200"/>
              </a:spcBef>
              <a:spcAft>
                <a:spcPts val="0"/>
              </a:spcAft>
              <a:buClr>
                <a:schemeClr val="dk1"/>
              </a:buClr>
              <a:buSzPct val="100000"/>
              <a:buChar char="●"/>
            </a:pPr>
            <a:r>
              <a:rPr b="1" lang="en-US" sz="1100">
                <a:solidFill>
                  <a:schemeClr val="dk1"/>
                </a:solidFill>
              </a:rPr>
              <a:t>Launch Success Trend</a:t>
            </a:r>
            <a:r>
              <a:rPr lang="en-US" sz="1100">
                <a:solidFill>
                  <a:schemeClr val="dk1"/>
                </a:solidFill>
              </a:rPr>
              <a:t>: The success rate has significantly improved over time, specifically showing a sharp increase after 2013 and peaking between 2017–2020.</a:t>
            </a:r>
            <a:endParaRPr sz="1100">
              <a:solidFill>
                <a:schemeClr val="dk1"/>
              </a:solidFill>
            </a:endParaRPr>
          </a:p>
          <a:p>
            <a:pPr indent="-282733" lvl="0" marL="457200" rtl="0" algn="l">
              <a:lnSpc>
                <a:spcPct val="115000"/>
              </a:lnSpc>
              <a:spcBef>
                <a:spcPts val="0"/>
              </a:spcBef>
              <a:spcAft>
                <a:spcPts val="0"/>
              </a:spcAft>
              <a:buClr>
                <a:schemeClr val="dk1"/>
              </a:buClr>
              <a:buSzPct val="100000"/>
              <a:buChar char="●"/>
            </a:pPr>
            <a:r>
              <a:rPr b="1" lang="en-US" sz="1100">
                <a:solidFill>
                  <a:schemeClr val="dk1"/>
                </a:solidFill>
              </a:rPr>
              <a:t>Launch Site Performance</a:t>
            </a:r>
            <a:r>
              <a:rPr lang="en-US" sz="1100">
                <a:solidFill>
                  <a:schemeClr val="dk1"/>
                </a:solidFill>
              </a:rPr>
              <a:t>:</a:t>
            </a:r>
            <a:endParaRPr sz="1100">
              <a:solidFill>
                <a:schemeClr val="dk1"/>
              </a:solidFill>
            </a:endParaRPr>
          </a:p>
          <a:p>
            <a:pPr indent="-282733" lvl="1" marL="914400" rtl="0" algn="l">
              <a:lnSpc>
                <a:spcPct val="115000"/>
              </a:lnSpc>
              <a:spcBef>
                <a:spcPts val="0"/>
              </a:spcBef>
              <a:spcAft>
                <a:spcPts val="0"/>
              </a:spcAft>
              <a:buClr>
                <a:schemeClr val="dk1"/>
              </a:buClr>
              <a:buSzPct val="100000"/>
              <a:buChar char="○"/>
            </a:pPr>
            <a:r>
              <a:rPr b="1" lang="en-US" sz="1100">
                <a:solidFill>
                  <a:schemeClr val="dk1"/>
                </a:solidFill>
              </a:rPr>
              <a:t>KSC LC-39A</a:t>
            </a:r>
            <a:r>
              <a:rPr lang="en-US" sz="1100">
                <a:solidFill>
                  <a:schemeClr val="dk1"/>
                </a:solidFill>
              </a:rPr>
              <a:t> (Kennedy Space Center) has the highest overall success rate.</a:t>
            </a:r>
            <a:endParaRPr sz="1100">
              <a:solidFill>
                <a:schemeClr val="dk1"/>
              </a:solidFill>
            </a:endParaRPr>
          </a:p>
          <a:p>
            <a:pPr indent="-282733" lvl="1" marL="914400" rtl="0" algn="l">
              <a:lnSpc>
                <a:spcPct val="115000"/>
              </a:lnSpc>
              <a:spcBef>
                <a:spcPts val="0"/>
              </a:spcBef>
              <a:spcAft>
                <a:spcPts val="0"/>
              </a:spcAft>
              <a:buClr>
                <a:schemeClr val="dk1"/>
              </a:buClr>
              <a:buSzPct val="100000"/>
              <a:buChar char="○"/>
            </a:pPr>
            <a:r>
              <a:rPr b="1" lang="en-US" sz="1100">
                <a:solidFill>
                  <a:schemeClr val="dk1"/>
                </a:solidFill>
              </a:rPr>
              <a:t>VAFB SLC-4E</a:t>
            </a:r>
            <a:r>
              <a:rPr lang="en-US" sz="1100">
                <a:solidFill>
                  <a:schemeClr val="dk1"/>
                </a:solidFill>
              </a:rPr>
              <a:t> and </a:t>
            </a:r>
            <a:r>
              <a:rPr b="1" lang="en-US" sz="1100">
                <a:solidFill>
                  <a:schemeClr val="dk1"/>
                </a:solidFill>
              </a:rPr>
              <a:t>CCAFS SLC-40</a:t>
            </a:r>
            <a:r>
              <a:rPr lang="en-US" sz="1100">
                <a:solidFill>
                  <a:schemeClr val="dk1"/>
                </a:solidFill>
              </a:rPr>
              <a:t> show higher failure rates for early flight numbers but improved as flight frequency increased.</a:t>
            </a:r>
            <a:endParaRPr sz="1100">
              <a:solidFill>
                <a:schemeClr val="dk1"/>
              </a:solidFill>
            </a:endParaRPr>
          </a:p>
          <a:p>
            <a:pPr indent="-282733" lvl="0" marL="457200" rtl="0" algn="l">
              <a:lnSpc>
                <a:spcPct val="115000"/>
              </a:lnSpc>
              <a:spcBef>
                <a:spcPts val="0"/>
              </a:spcBef>
              <a:spcAft>
                <a:spcPts val="0"/>
              </a:spcAft>
              <a:buClr>
                <a:schemeClr val="dk1"/>
              </a:buClr>
              <a:buSzPct val="100000"/>
              <a:buChar char="●"/>
            </a:pPr>
            <a:r>
              <a:rPr b="1" lang="en-US" sz="1100">
                <a:solidFill>
                  <a:schemeClr val="dk1"/>
                </a:solidFill>
              </a:rPr>
              <a:t>Payload vs. Success</a:t>
            </a:r>
            <a:r>
              <a:rPr lang="en-US" sz="1100">
                <a:solidFill>
                  <a:schemeClr val="dk1"/>
                </a:solidFill>
              </a:rPr>
              <a:t>: Higher payload masses (greater than 6,000 kg) show a slightly higher correlation with successful landings on certain orbits.</a:t>
            </a:r>
            <a:endParaRPr sz="1100">
              <a:solidFill>
                <a:schemeClr val="dk1"/>
              </a:solidFill>
            </a:endParaRPr>
          </a:p>
          <a:p>
            <a:pPr indent="-282733" lvl="0" marL="457200" rtl="0" algn="l">
              <a:lnSpc>
                <a:spcPct val="115000"/>
              </a:lnSpc>
              <a:spcBef>
                <a:spcPts val="0"/>
              </a:spcBef>
              <a:spcAft>
                <a:spcPts val="0"/>
              </a:spcAft>
              <a:buClr>
                <a:schemeClr val="dk1"/>
              </a:buClr>
              <a:buSzPct val="100000"/>
              <a:buChar char="●"/>
            </a:pPr>
            <a:r>
              <a:rPr b="1" lang="en-US" sz="1100">
                <a:solidFill>
                  <a:schemeClr val="dk1"/>
                </a:solidFill>
              </a:rPr>
              <a:t>Orbit Success Rates</a:t>
            </a:r>
            <a:r>
              <a:rPr lang="en-US" sz="1100">
                <a:solidFill>
                  <a:schemeClr val="dk1"/>
                </a:solidFill>
              </a:rPr>
              <a:t>: Orbits like </a:t>
            </a:r>
            <a:r>
              <a:rPr b="1" lang="en-US" sz="1100">
                <a:solidFill>
                  <a:schemeClr val="dk1"/>
                </a:solidFill>
              </a:rPr>
              <a:t>ES-L1, GEO, HEO, and SSO</a:t>
            </a:r>
            <a:r>
              <a:rPr lang="en-US" sz="1100">
                <a:solidFill>
                  <a:schemeClr val="dk1"/>
                </a:solidFill>
              </a:rPr>
              <a:t> achieved a </a:t>
            </a:r>
            <a:r>
              <a:rPr b="1" lang="en-US" sz="1100">
                <a:solidFill>
                  <a:schemeClr val="dk1"/>
                </a:solidFill>
              </a:rPr>
              <a:t>100% success rate</a:t>
            </a:r>
            <a:r>
              <a:rPr lang="en-US" sz="1100">
                <a:solidFill>
                  <a:schemeClr val="dk1"/>
                </a:solidFill>
              </a:rPr>
              <a:t> in the analyzed dataset, whereas GTO orbit had a success rate of approximately 50% due to the complexity of the mission.</a:t>
            </a:r>
            <a:endParaRPr sz="2200">
              <a:solidFill>
                <a:srgbClr val="292929"/>
              </a:solidFill>
            </a:endParaRPr>
          </a:p>
          <a:p>
            <a:pPr indent="-114300" lvl="1" marL="685800" marR="0" rtl="0" algn="l">
              <a:lnSpc>
                <a:spcPct val="90000"/>
              </a:lnSpc>
              <a:spcBef>
                <a:spcPts val="1200"/>
              </a:spcBef>
              <a:spcAft>
                <a:spcPts val="0"/>
              </a:spcAft>
              <a:buClr>
                <a:srgbClr val="0070C0"/>
              </a:buClr>
              <a:buSzPct val="100000"/>
              <a:buFont typeface="Arial"/>
              <a:buNone/>
            </a:pPr>
            <a:r>
              <a:t/>
            </a:r>
            <a:endParaRPr b="0" i="0" sz="1800" u="none" cap="none" strike="noStrike">
              <a:solidFill>
                <a:srgbClr val="0070C0"/>
              </a:solidFill>
              <a:latin typeface="IBM Plex Mono"/>
              <a:ea typeface="IBM Plex Mono"/>
              <a:cs typeface="IBM Plex Mono"/>
              <a:sym typeface="IBM Plex Mono"/>
            </a:endParaRPr>
          </a:p>
          <a:p>
            <a:pPr indent="0" lvl="1" marL="457200" marR="0" rtl="0" algn="l">
              <a:lnSpc>
                <a:spcPct val="90000"/>
              </a:lnSpc>
              <a:spcBef>
                <a:spcPts val="500"/>
              </a:spcBef>
              <a:spcAft>
                <a:spcPts val="0"/>
              </a:spcAft>
              <a:buClr>
                <a:srgbClr val="0070C0"/>
              </a:buClr>
              <a:buSzPct val="100000"/>
              <a:buFont typeface="Arial"/>
              <a:buNone/>
            </a:pPr>
            <a:r>
              <a:t/>
            </a:r>
            <a:endParaRPr b="0" i="0" sz="1800" u="none" cap="none" strike="noStrike">
              <a:solidFill>
                <a:srgbClr val="0070C0"/>
              </a:solidFill>
              <a:latin typeface="IBM Plex Mono"/>
              <a:ea typeface="IBM Plex Mono"/>
              <a:cs typeface="IBM Plex Mono"/>
              <a:sym typeface="IBM Plex Mono"/>
            </a:endParaRPr>
          </a:p>
        </p:txBody>
      </p:sp>
      <p:sp>
        <p:nvSpPr>
          <p:cNvPr id="205" name="Google Shape;205;p16"/>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06" name="Google Shape;206;p16"/>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Results</a:t>
            </a:r>
            <a:endParaRPr b="0" i="0" sz="4000" u="none" cap="none" strike="noStrike">
              <a:solidFill>
                <a:srgbClr val="0B49CB"/>
              </a:solidFill>
              <a:latin typeface="IBM Plex Mono SemiBold"/>
              <a:ea typeface="IBM Plex Mono SemiBold"/>
              <a:cs typeface="IBM Plex Mono SemiBold"/>
              <a:sym typeface="IBM Plex Mono SemiBold"/>
            </a:endParaRPr>
          </a:p>
        </p:txBody>
      </p:sp>
      <p:sp>
        <p:nvSpPr>
          <p:cNvPr id="207" name="Google Shape;207;p16"/>
          <p:cNvSpPr txBox="1"/>
          <p:nvPr/>
        </p:nvSpPr>
        <p:spPr>
          <a:xfrm>
            <a:off x="5613875" y="1743150"/>
            <a:ext cx="4211700" cy="33717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5000"/>
              </a:lnSpc>
              <a:spcBef>
                <a:spcPts val="1400"/>
              </a:spcBef>
              <a:spcAft>
                <a:spcPts val="0"/>
              </a:spcAft>
              <a:buNone/>
            </a:pPr>
            <a:r>
              <a:rPr b="1" lang="en-US" sz="1300">
                <a:solidFill>
                  <a:schemeClr val="dk1"/>
                </a:solidFill>
              </a:rPr>
              <a:t>2. Interactive Analytics Demo (Dash &amp; Folium)</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The project included a dual-layered interactive component typically presented via screenshots in the final report:</a:t>
            </a:r>
            <a:endParaRPr sz="1100">
              <a:solidFill>
                <a:schemeClr val="dk1"/>
              </a:solidFill>
            </a:endParaRPr>
          </a:p>
          <a:p>
            <a:pPr indent="-277495" lvl="0" marL="457200" rtl="0" algn="l">
              <a:lnSpc>
                <a:spcPct val="115000"/>
              </a:lnSpc>
              <a:spcBef>
                <a:spcPts val="1200"/>
              </a:spcBef>
              <a:spcAft>
                <a:spcPts val="0"/>
              </a:spcAft>
              <a:buClr>
                <a:schemeClr val="dk1"/>
              </a:buClr>
              <a:buSzPct val="100000"/>
              <a:buChar char="●"/>
            </a:pPr>
            <a:r>
              <a:rPr b="1" lang="en-US" sz="1100">
                <a:solidFill>
                  <a:schemeClr val="dk1"/>
                </a:solidFill>
              </a:rPr>
              <a:t>Folium Interactive Map</a:t>
            </a:r>
            <a:r>
              <a:rPr lang="en-US" sz="1100">
                <a:solidFill>
                  <a:schemeClr val="dk1"/>
                </a:solidFill>
              </a:rPr>
              <a:t>:</a:t>
            </a:r>
            <a:endParaRPr sz="1100">
              <a:solidFill>
                <a:schemeClr val="dk1"/>
              </a:solidFill>
            </a:endParaRPr>
          </a:p>
          <a:p>
            <a:pPr indent="-277494" lvl="1" marL="914400" rtl="0" algn="l">
              <a:lnSpc>
                <a:spcPct val="115000"/>
              </a:lnSpc>
              <a:spcBef>
                <a:spcPts val="0"/>
              </a:spcBef>
              <a:spcAft>
                <a:spcPts val="0"/>
              </a:spcAft>
              <a:buClr>
                <a:schemeClr val="dk1"/>
              </a:buClr>
              <a:buSzPct val="100000"/>
              <a:buChar char="○"/>
            </a:pPr>
            <a:r>
              <a:rPr b="1" lang="en-US" sz="1100">
                <a:solidFill>
                  <a:schemeClr val="dk1"/>
                </a:solidFill>
              </a:rPr>
              <a:t>Markers</a:t>
            </a:r>
            <a:r>
              <a:rPr lang="en-US" sz="1100">
                <a:solidFill>
                  <a:schemeClr val="dk1"/>
                </a:solidFill>
              </a:rPr>
              <a:t>: Red (failure) and Green (success) markers clustered around launch sites.</a:t>
            </a:r>
            <a:endParaRPr sz="1100">
              <a:solidFill>
                <a:schemeClr val="dk1"/>
              </a:solidFill>
            </a:endParaRPr>
          </a:p>
          <a:p>
            <a:pPr indent="-277494" lvl="1" marL="914400" rtl="0" algn="l">
              <a:lnSpc>
                <a:spcPct val="115000"/>
              </a:lnSpc>
              <a:spcBef>
                <a:spcPts val="0"/>
              </a:spcBef>
              <a:spcAft>
                <a:spcPts val="0"/>
              </a:spcAft>
              <a:buClr>
                <a:schemeClr val="dk1"/>
              </a:buClr>
              <a:buSzPct val="100000"/>
              <a:buChar char="○"/>
            </a:pPr>
            <a:r>
              <a:rPr b="1" lang="en-US" sz="1100">
                <a:solidFill>
                  <a:schemeClr val="dk1"/>
                </a:solidFill>
              </a:rPr>
              <a:t>Distance Tool</a:t>
            </a:r>
            <a:r>
              <a:rPr lang="en-US" sz="1100">
                <a:solidFill>
                  <a:schemeClr val="dk1"/>
                </a:solidFill>
              </a:rPr>
              <a:t>: Lines showing the distance of launch sites to geographical markers like coastlines, highways, and railways (noting that all sites are coastal to allow for over-water flight paths).</a:t>
            </a:r>
            <a:endParaRPr sz="1100">
              <a:solidFill>
                <a:schemeClr val="dk1"/>
              </a:solidFill>
            </a:endParaRPr>
          </a:p>
          <a:p>
            <a:pPr indent="-277495" lvl="0" marL="457200" rtl="0" algn="l">
              <a:lnSpc>
                <a:spcPct val="115000"/>
              </a:lnSpc>
              <a:spcBef>
                <a:spcPts val="0"/>
              </a:spcBef>
              <a:spcAft>
                <a:spcPts val="0"/>
              </a:spcAft>
              <a:buClr>
                <a:schemeClr val="dk1"/>
              </a:buClr>
              <a:buSzPct val="100000"/>
              <a:buChar char="●"/>
            </a:pPr>
            <a:r>
              <a:rPr b="1" lang="en-US" sz="1100">
                <a:solidFill>
                  <a:schemeClr val="dk1"/>
                </a:solidFill>
              </a:rPr>
              <a:t>Plotly Dash Dashboard</a:t>
            </a:r>
            <a:r>
              <a:rPr lang="en-US" sz="1100">
                <a:solidFill>
                  <a:schemeClr val="dk1"/>
                </a:solidFill>
              </a:rPr>
              <a:t>:</a:t>
            </a:r>
            <a:endParaRPr sz="1100">
              <a:solidFill>
                <a:schemeClr val="dk1"/>
              </a:solidFill>
            </a:endParaRPr>
          </a:p>
          <a:p>
            <a:pPr indent="-277494" lvl="1" marL="914400" rtl="0" algn="l">
              <a:lnSpc>
                <a:spcPct val="115000"/>
              </a:lnSpc>
              <a:spcBef>
                <a:spcPts val="0"/>
              </a:spcBef>
              <a:spcAft>
                <a:spcPts val="0"/>
              </a:spcAft>
              <a:buClr>
                <a:schemeClr val="dk1"/>
              </a:buClr>
              <a:buSzPct val="100000"/>
              <a:buChar char="○"/>
            </a:pPr>
            <a:r>
              <a:rPr b="1" lang="en-US" sz="1100">
                <a:solidFill>
                  <a:schemeClr val="dk1"/>
                </a:solidFill>
              </a:rPr>
              <a:t>Dropdown Filter</a:t>
            </a:r>
            <a:r>
              <a:rPr lang="en-US" sz="1100">
                <a:solidFill>
                  <a:schemeClr val="dk1"/>
                </a:solidFill>
              </a:rPr>
              <a:t>: Allows users to select specific launch sites.</a:t>
            </a:r>
            <a:endParaRPr sz="1100">
              <a:solidFill>
                <a:schemeClr val="dk1"/>
              </a:solidFill>
            </a:endParaRPr>
          </a:p>
          <a:p>
            <a:pPr indent="-277494" lvl="1" marL="914400" rtl="0" algn="l">
              <a:lnSpc>
                <a:spcPct val="115000"/>
              </a:lnSpc>
              <a:spcBef>
                <a:spcPts val="0"/>
              </a:spcBef>
              <a:spcAft>
                <a:spcPts val="0"/>
              </a:spcAft>
              <a:buClr>
                <a:schemeClr val="dk1"/>
              </a:buClr>
              <a:buSzPct val="100000"/>
              <a:buChar char="○"/>
            </a:pPr>
            <a:r>
              <a:rPr b="1" lang="en-US" sz="1100">
                <a:solidFill>
                  <a:schemeClr val="dk1"/>
                </a:solidFill>
              </a:rPr>
              <a:t>Pie Charts</a:t>
            </a:r>
            <a:r>
              <a:rPr lang="en-US" sz="1100">
                <a:solidFill>
                  <a:schemeClr val="dk1"/>
                </a:solidFill>
              </a:rPr>
              <a:t>: Displays the total success vs. failure ratio for the selected site.</a:t>
            </a:r>
            <a:endParaRPr sz="1100">
              <a:solidFill>
                <a:schemeClr val="dk1"/>
              </a:solidFill>
            </a:endParaRPr>
          </a:p>
          <a:p>
            <a:pPr indent="-277494" lvl="1" marL="914400" rtl="0" algn="l">
              <a:lnSpc>
                <a:spcPct val="115000"/>
              </a:lnSpc>
              <a:spcBef>
                <a:spcPts val="0"/>
              </a:spcBef>
              <a:spcAft>
                <a:spcPts val="0"/>
              </a:spcAft>
              <a:buClr>
                <a:schemeClr val="dk1"/>
              </a:buClr>
              <a:buSzPct val="100000"/>
              <a:buChar char="○"/>
            </a:pPr>
            <a:r>
              <a:rPr b="1" lang="en-US" sz="1100">
                <a:solidFill>
                  <a:schemeClr val="dk1"/>
                </a:solidFill>
              </a:rPr>
              <a:t>Range Slider</a:t>
            </a:r>
            <a:r>
              <a:rPr lang="en-US" sz="1100">
                <a:solidFill>
                  <a:schemeClr val="dk1"/>
                </a:solidFill>
              </a:rPr>
              <a:t>: Filters launches by </a:t>
            </a:r>
            <a:r>
              <a:rPr b="1" lang="en-US" sz="1100">
                <a:solidFill>
                  <a:schemeClr val="dk1"/>
                </a:solidFill>
              </a:rPr>
              <a:t>Payload Mass (kg)</a:t>
            </a:r>
            <a:r>
              <a:rPr lang="en-US" sz="1100">
                <a:solidFill>
                  <a:schemeClr val="dk1"/>
                </a:solidFill>
              </a:rPr>
              <a:t>, updating a scatter plot to show the correlation between payload, booster version, and landing success.</a:t>
            </a:r>
            <a:endParaRPr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3. Predictive Analysis Results</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Four classification models were built and tuned using </a:t>
            </a:r>
            <a:r>
              <a:rPr lang="en-US" sz="1100">
                <a:solidFill>
                  <a:schemeClr val="dk1"/>
                </a:solidFill>
                <a:latin typeface="Roboto Mono"/>
                <a:ea typeface="Roboto Mono"/>
                <a:cs typeface="Roboto Mono"/>
                <a:sym typeface="Roboto Mono"/>
              </a:rPr>
              <a:t>GridSearchCV and Decision trees </a:t>
            </a:r>
            <a:r>
              <a:rPr lang="en-US" sz="1100">
                <a:solidFill>
                  <a:schemeClr val="dk1"/>
                </a:solidFill>
                <a:latin typeface="Roboto Mono"/>
                <a:ea typeface="Roboto Mono"/>
                <a:cs typeface="Roboto Mono"/>
                <a:sym typeface="Roboto Mono"/>
              </a:rPr>
              <a:t>performed</a:t>
            </a:r>
            <a:r>
              <a:rPr lang="en-US" sz="1100">
                <a:solidFill>
                  <a:schemeClr val="dk1"/>
                </a:solidFill>
                <a:latin typeface="Roboto Mono"/>
                <a:ea typeface="Roboto Mono"/>
                <a:cs typeface="Roboto Mono"/>
                <a:sym typeface="Roboto Mono"/>
              </a:rPr>
              <a:t> at 88% accuracy better than other algorithms.</a:t>
            </a:r>
            <a:endParaRPr sz="2200">
              <a:solidFill>
                <a:schemeClr val="dk1"/>
              </a:solidFill>
            </a:endParaRPr>
          </a:p>
          <a:p>
            <a:pPr indent="-114300" lvl="1" marL="685800" marR="0" rtl="0" algn="l">
              <a:lnSpc>
                <a:spcPct val="90000"/>
              </a:lnSpc>
              <a:spcBef>
                <a:spcPts val="1200"/>
              </a:spcBef>
              <a:spcAft>
                <a:spcPts val="0"/>
              </a:spcAft>
              <a:buClr>
                <a:srgbClr val="0070C0"/>
              </a:buClr>
              <a:buSzPct val="100000"/>
              <a:buFont typeface="Arial"/>
              <a:buNone/>
            </a:pPr>
            <a:r>
              <a:t/>
            </a:r>
            <a:endParaRPr b="0" i="0" sz="1800" u="none" cap="none" strike="noStrike">
              <a:solidFill>
                <a:srgbClr val="0070C0"/>
              </a:solidFill>
              <a:latin typeface="IBM Plex Mono"/>
              <a:ea typeface="IBM Plex Mono"/>
              <a:cs typeface="IBM Plex Mono"/>
              <a:sym typeface="IBM Plex Mono"/>
            </a:endParaRPr>
          </a:p>
          <a:p>
            <a:pPr indent="0" lvl="1" marL="457200" marR="0" rtl="0" algn="l">
              <a:lnSpc>
                <a:spcPct val="90000"/>
              </a:lnSpc>
              <a:spcBef>
                <a:spcPts val="500"/>
              </a:spcBef>
              <a:spcAft>
                <a:spcPts val="0"/>
              </a:spcAft>
              <a:buClr>
                <a:srgbClr val="0070C0"/>
              </a:buClr>
              <a:buSzPct val="100000"/>
              <a:buFont typeface="Arial"/>
              <a:buNone/>
            </a:pPr>
            <a:r>
              <a:t/>
            </a:r>
            <a:endParaRPr b="0" i="0" sz="1800" u="none" cap="none" strike="noStrike">
              <a:solidFill>
                <a:srgbClr val="0070C0"/>
              </a:solidFill>
              <a:latin typeface="IBM Plex Mono"/>
              <a:ea typeface="IBM Plex Mono"/>
              <a:cs typeface="IBM Plex Mono"/>
              <a:sym typeface="IBM Plex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17"/>
          <p:cNvSpPr txBox="1"/>
          <p:nvPr/>
        </p:nvSpPr>
        <p:spPr>
          <a:xfrm>
            <a:off x="797970" y="2529746"/>
            <a:ext cx="1058400" cy="369300"/>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Section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p18"/>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18" name="Google Shape;218;p18"/>
          <p:cNvSpPr txBox="1"/>
          <p:nvPr>
            <p:ph idx="1" type="body"/>
          </p:nvPr>
        </p:nvSpPr>
        <p:spPr>
          <a:xfrm>
            <a:off x="864975" y="4683600"/>
            <a:ext cx="6981900" cy="11853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CCAFS SLC-40 is the most frequent launch site with a steadily growing success ratio over time.</a:t>
            </a:r>
            <a:endParaRPr b="0" i="0" sz="1400" u="none" cap="none" strike="noStrike">
              <a:solidFill>
                <a:srgbClr val="000000"/>
              </a:solidFill>
              <a:latin typeface="Arial"/>
              <a:ea typeface="Arial"/>
              <a:cs typeface="Arial"/>
              <a:sym typeface="Arial"/>
            </a:endParaRPr>
          </a:p>
        </p:txBody>
      </p:sp>
      <p:sp>
        <p:nvSpPr>
          <p:cNvPr id="219" name="Google Shape;219;p18"/>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Flight Number vs. Launch Site</a:t>
            </a:r>
            <a:endParaRPr b="0" i="0" sz="4000" u="none" cap="none" strike="noStrike">
              <a:solidFill>
                <a:srgbClr val="0B49CB"/>
              </a:solidFill>
              <a:latin typeface="IBM Plex Mono SemiBold"/>
              <a:ea typeface="IBM Plex Mono SemiBold"/>
              <a:cs typeface="IBM Plex Mono SemiBold"/>
              <a:sym typeface="IBM Plex Mono SemiBold"/>
            </a:endParaRPr>
          </a:p>
        </p:txBody>
      </p:sp>
      <p:pic>
        <p:nvPicPr>
          <p:cNvPr id="220" name="Google Shape;220;p18" title="Screenshot 2026-02-15 091407.png"/>
          <p:cNvPicPr preferRelativeResize="0"/>
          <p:nvPr/>
        </p:nvPicPr>
        <p:blipFill>
          <a:blip r:embed="rId4">
            <a:alphaModFix/>
          </a:blip>
          <a:stretch>
            <a:fillRect/>
          </a:stretch>
        </p:blipFill>
        <p:spPr>
          <a:xfrm>
            <a:off x="234775" y="1365800"/>
            <a:ext cx="11818701" cy="2440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sp>
        <p:nvSpPr>
          <p:cNvPr id="225" name="Google Shape;225;p19"/>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26" name="Google Shape;226;p19"/>
          <p:cNvSpPr txBox="1"/>
          <p:nvPr>
            <p:ph idx="1" type="body"/>
          </p:nvPr>
        </p:nvSpPr>
        <p:spPr>
          <a:xfrm>
            <a:off x="770000" y="3829250"/>
            <a:ext cx="8451900" cy="2052000"/>
          </a:xfrm>
          <a:prstGeom prst="rect">
            <a:avLst/>
          </a:prstGeom>
          <a:noFill/>
          <a:ln>
            <a:noFill/>
          </a:ln>
        </p:spPr>
        <p:txBody>
          <a:bodyPr anchorCtr="0" anchor="t" bIns="45700" lIns="91425" spcFirstLastPara="1" rIns="91425" wrap="square" tIns="45700">
            <a:normAutofit/>
          </a:bodyPr>
          <a:lstStyle/>
          <a:p>
            <a:pPr indent="-241300" lvl="0" marL="228600" marR="0" rtl="0" algn="l">
              <a:lnSpc>
                <a:spcPct val="100000"/>
              </a:lnSpc>
              <a:spcBef>
                <a:spcPts val="1400"/>
              </a:spcBef>
              <a:spcAft>
                <a:spcPts val="0"/>
              </a:spcAft>
              <a:buClr>
                <a:srgbClr val="292929"/>
              </a:buClr>
              <a:buSzPts val="2400"/>
              <a:buFont typeface="Arial"/>
              <a:buChar char="•"/>
            </a:pPr>
            <a:r>
              <a:rPr lang="en-US" sz="1250">
                <a:solidFill>
                  <a:schemeClr val="dk1"/>
                </a:solidFill>
              </a:rPr>
              <a:t>The VAFB-SLC launchsite shows there are no rockets launched for heavy payload mass(greater than 10000) </a:t>
            </a:r>
            <a:endParaRPr b="0" i="0" sz="1600" u="none" cap="none" strike="noStrike">
              <a:solidFill>
                <a:srgbClr val="000000"/>
              </a:solidFill>
              <a:latin typeface="Arial"/>
              <a:ea typeface="Arial"/>
              <a:cs typeface="Arial"/>
              <a:sym typeface="Arial"/>
            </a:endParaRPr>
          </a:p>
        </p:txBody>
      </p:sp>
      <p:sp>
        <p:nvSpPr>
          <p:cNvPr id="227" name="Google Shape;227;p19"/>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Payload vs. Launch Site</a:t>
            </a:r>
            <a:endParaRPr b="0" i="0" sz="1400" u="none" cap="none" strike="noStrike">
              <a:solidFill>
                <a:srgbClr val="000000"/>
              </a:solidFill>
              <a:latin typeface="Arial"/>
              <a:ea typeface="Arial"/>
              <a:cs typeface="Arial"/>
              <a:sym typeface="Arial"/>
            </a:endParaRPr>
          </a:p>
        </p:txBody>
      </p:sp>
      <p:pic>
        <p:nvPicPr>
          <p:cNvPr id="228" name="Google Shape;228;p19" title="Screenshot 2026-02-15 091752.png"/>
          <p:cNvPicPr preferRelativeResize="0"/>
          <p:nvPr/>
        </p:nvPicPr>
        <p:blipFill>
          <a:blip r:embed="rId4">
            <a:alphaModFix/>
          </a:blip>
          <a:stretch>
            <a:fillRect/>
          </a:stretch>
        </p:blipFill>
        <p:spPr>
          <a:xfrm>
            <a:off x="511850" y="1240050"/>
            <a:ext cx="11360724" cy="2252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2" name="Shape 232"/>
        <p:cNvGrpSpPr/>
        <p:nvPr/>
      </p:nvGrpSpPr>
      <p:grpSpPr>
        <a:xfrm>
          <a:off x="0" y="0"/>
          <a:ext cx="0" cy="0"/>
          <a:chOff x="0" y="0"/>
          <a:chExt cx="0" cy="0"/>
        </a:xfrm>
      </p:grpSpPr>
      <p:sp>
        <p:nvSpPr>
          <p:cNvPr id="233" name="Google Shape;233;p2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34" name="Google Shape;234;p20"/>
          <p:cNvSpPr txBox="1"/>
          <p:nvPr>
            <p:ph idx="1" type="body"/>
          </p:nvPr>
        </p:nvSpPr>
        <p:spPr>
          <a:xfrm>
            <a:off x="770011" y="2082114"/>
            <a:ext cx="3932100" cy="38115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Show a bar chart for the success rate of each orbit type</a:t>
            </a:r>
            <a:endParaRPr b="0" i="0" sz="1400" u="none" cap="none" strike="noStrike">
              <a:solidFill>
                <a:srgbClr val="000000"/>
              </a:solidFill>
              <a:latin typeface="Arial"/>
              <a:ea typeface="Arial"/>
              <a:cs typeface="Arial"/>
              <a:sym typeface="Arial"/>
            </a:endParaRPr>
          </a:p>
          <a:p>
            <a:pPr indent="-88900" lvl="0" marL="228600" marR="0" rtl="0" algn="l">
              <a:lnSpc>
                <a:spcPct val="100000"/>
              </a:lnSpc>
              <a:spcBef>
                <a:spcPts val="1400"/>
              </a:spcBef>
              <a:spcAft>
                <a:spcPts val="0"/>
              </a:spcAft>
              <a:buClr>
                <a:schemeClr val="dk1"/>
              </a:buClr>
              <a:buSzPts val="2200"/>
              <a:buFont typeface="Arial"/>
              <a:buNone/>
            </a:pPr>
            <a:r>
              <a:t/>
            </a:r>
            <a:endParaRPr b="0" i="0" sz="2200" u="none" cap="none" strike="noStrike">
              <a:solidFill>
                <a:srgbClr val="292929"/>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Show the screenshot of the scatter plot with explanations</a:t>
            </a:r>
            <a:endParaRPr b="0" i="0" sz="1400" u="none" cap="none" strike="noStrike">
              <a:solidFill>
                <a:srgbClr val="000000"/>
              </a:solidFill>
              <a:latin typeface="Arial"/>
              <a:ea typeface="Arial"/>
              <a:cs typeface="Arial"/>
              <a:sym typeface="Arial"/>
            </a:endParaRPr>
          </a:p>
        </p:txBody>
      </p:sp>
      <p:sp>
        <p:nvSpPr>
          <p:cNvPr id="235" name="Google Shape;235;p20"/>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Success Rate vs. Orbit Type</a:t>
            </a:r>
            <a:endParaRPr b="0" i="0" sz="4000" u="none" cap="none" strike="noStrike">
              <a:solidFill>
                <a:srgbClr val="0B49CB"/>
              </a:solidFill>
              <a:latin typeface="IBM Plex Mono SemiBold"/>
              <a:ea typeface="IBM Plex Mono SemiBold"/>
              <a:cs typeface="IBM Plex Mono SemiBold"/>
              <a:sym typeface="IBM Plex Mono SemiBold"/>
            </a:endParaRPr>
          </a:p>
        </p:txBody>
      </p:sp>
      <p:pic>
        <p:nvPicPr>
          <p:cNvPr id="236" name="Google Shape;236;p20" title="Screenshot 2026-02-15 091854.png"/>
          <p:cNvPicPr preferRelativeResize="0"/>
          <p:nvPr/>
        </p:nvPicPr>
        <p:blipFill>
          <a:blip r:embed="rId4">
            <a:alphaModFix/>
          </a:blip>
          <a:stretch>
            <a:fillRect/>
          </a:stretch>
        </p:blipFill>
        <p:spPr>
          <a:xfrm>
            <a:off x="4854500" y="1335425"/>
            <a:ext cx="6442025" cy="4537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 name="Shape 240"/>
        <p:cNvGrpSpPr/>
        <p:nvPr/>
      </p:nvGrpSpPr>
      <p:grpSpPr>
        <a:xfrm>
          <a:off x="0" y="0"/>
          <a:ext cx="0" cy="0"/>
          <a:chOff x="0" y="0"/>
          <a:chExt cx="0" cy="0"/>
        </a:xfrm>
      </p:grpSpPr>
      <p:sp>
        <p:nvSpPr>
          <p:cNvPr id="241" name="Google Shape;241;p21"/>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42" name="Google Shape;242;p21"/>
          <p:cNvSpPr txBox="1"/>
          <p:nvPr>
            <p:ph idx="1" type="body"/>
          </p:nvPr>
        </p:nvSpPr>
        <p:spPr>
          <a:xfrm>
            <a:off x="770000" y="3563700"/>
            <a:ext cx="8709900" cy="13056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Orbits like HEO, SSO, and GEO show a near-perfect success rates compared to GTO missions.</a:t>
            </a:r>
            <a:endParaRPr b="0" i="0" sz="1400" u="none" cap="none" strike="noStrike">
              <a:solidFill>
                <a:srgbClr val="000000"/>
              </a:solidFill>
              <a:latin typeface="Arial"/>
              <a:ea typeface="Arial"/>
              <a:cs typeface="Arial"/>
              <a:sym typeface="Arial"/>
            </a:endParaRPr>
          </a:p>
        </p:txBody>
      </p:sp>
      <p:sp>
        <p:nvSpPr>
          <p:cNvPr id="243" name="Google Shape;243;p21"/>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Flight Number vs. Orbit Type</a:t>
            </a:r>
            <a:endParaRPr b="0" i="0" sz="4000" u="none" cap="none" strike="noStrike">
              <a:solidFill>
                <a:srgbClr val="0B49CB"/>
              </a:solidFill>
              <a:latin typeface="IBM Plex Mono SemiBold"/>
              <a:ea typeface="IBM Plex Mono SemiBold"/>
              <a:cs typeface="IBM Plex Mono SemiBold"/>
              <a:sym typeface="IBM Plex Mono SemiBold"/>
            </a:endParaRPr>
          </a:p>
        </p:txBody>
      </p:sp>
      <p:pic>
        <p:nvPicPr>
          <p:cNvPr id="244" name="Google Shape;244;p21" title="Screenshot 2026-02-15 091946.png"/>
          <p:cNvPicPr preferRelativeResize="0"/>
          <p:nvPr/>
        </p:nvPicPr>
        <p:blipFill>
          <a:blip r:embed="rId4">
            <a:alphaModFix/>
          </a:blip>
          <a:stretch>
            <a:fillRect/>
          </a:stretch>
        </p:blipFill>
        <p:spPr>
          <a:xfrm>
            <a:off x="1250750" y="1309325"/>
            <a:ext cx="7908651" cy="21712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22"/>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50" name="Google Shape;250;p22"/>
          <p:cNvSpPr txBox="1"/>
          <p:nvPr>
            <p:ph idx="1" type="body"/>
          </p:nvPr>
        </p:nvSpPr>
        <p:spPr>
          <a:xfrm>
            <a:off x="1538425" y="3933150"/>
            <a:ext cx="7870800" cy="11526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a:t>Higher payload masses above 10 000kg are predominantly associated with VLEO orbits and have a high success rate, while performance in orbits like GTO is spread across a wider range of masses with mixed results.</a:t>
            </a:r>
            <a:endParaRPr b="0" i="0" sz="1400" u="none" cap="none" strike="noStrike">
              <a:solidFill>
                <a:srgbClr val="000000"/>
              </a:solidFill>
              <a:latin typeface="Arial"/>
              <a:ea typeface="Arial"/>
              <a:cs typeface="Arial"/>
              <a:sym typeface="Arial"/>
            </a:endParaRPr>
          </a:p>
        </p:txBody>
      </p:sp>
      <p:sp>
        <p:nvSpPr>
          <p:cNvPr id="251" name="Google Shape;251;p22"/>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Payload vs. Orbit Type</a:t>
            </a:r>
            <a:endParaRPr b="0" i="0" sz="4000" u="none" cap="none" strike="noStrike">
              <a:solidFill>
                <a:srgbClr val="0B49CB"/>
              </a:solidFill>
              <a:latin typeface="IBM Plex Mono SemiBold"/>
              <a:ea typeface="IBM Plex Mono SemiBold"/>
              <a:cs typeface="IBM Plex Mono SemiBold"/>
              <a:sym typeface="IBM Plex Mono SemiBold"/>
            </a:endParaRPr>
          </a:p>
        </p:txBody>
      </p:sp>
      <p:pic>
        <p:nvPicPr>
          <p:cNvPr id="252" name="Google Shape;252;p22" title="Screenshot 2026-02-15 092347.png"/>
          <p:cNvPicPr preferRelativeResize="0"/>
          <p:nvPr/>
        </p:nvPicPr>
        <p:blipFill>
          <a:blip r:embed="rId4">
            <a:alphaModFix/>
          </a:blip>
          <a:stretch>
            <a:fillRect/>
          </a:stretch>
        </p:blipFill>
        <p:spPr>
          <a:xfrm>
            <a:off x="1969138" y="1303550"/>
            <a:ext cx="8253714" cy="2540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6" name="Shape 256"/>
        <p:cNvGrpSpPr/>
        <p:nvPr/>
      </p:nvGrpSpPr>
      <p:grpSpPr>
        <a:xfrm>
          <a:off x="0" y="0"/>
          <a:ext cx="0" cy="0"/>
          <a:chOff x="0" y="0"/>
          <a:chExt cx="0" cy="0"/>
        </a:xfrm>
      </p:grpSpPr>
      <p:sp>
        <p:nvSpPr>
          <p:cNvPr id="257" name="Google Shape;257;p23"/>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58" name="Google Shape;258;p23"/>
          <p:cNvSpPr txBox="1"/>
          <p:nvPr>
            <p:ph idx="1" type="body"/>
          </p:nvPr>
        </p:nvSpPr>
        <p:spPr>
          <a:xfrm>
            <a:off x="770011" y="2069757"/>
            <a:ext cx="3932100" cy="38115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The graph illustrates the launch success rate over time, showing a significant upward trend from 2013 through 2020.</a:t>
            </a:r>
            <a:endParaRPr b="0" i="0" sz="1400" u="none" cap="none" strike="noStrike">
              <a:solidFill>
                <a:srgbClr val="000000"/>
              </a:solidFill>
              <a:latin typeface="Arial"/>
              <a:ea typeface="Arial"/>
              <a:cs typeface="Arial"/>
              <a:sym typeface="Arial"/>
            </a:endParaRPr>
          </a:p>
        </p:txBody>
      </p:sp>
      <p:sp>
        <p:nvSpPr>
          <p:cNvPr id="259" name="Google Shape;259;p23"/>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Launch Success Yearly Trend</a:t>
            </a:r>
            <a:endParaRPr b="0" i="0" sz="1400" u="none" cap="none" strike="noStrike">
              <a:solidFill>
                <a:srgbClr val="000000"/>
              </a:solidFill>
              <a:latin typeface="Arial"/>
              <a:ea typeface="Arial"/>
              <a:cs typeface="Arial"/>
              <a:sym typeface="Arial"/>
            </a:endParaRPr>
          </a:p>
        </p:txBody>
      </p:sp>
      <p:pic>
        <p:nvPicPr>
          <p:cNvPr id="260" name="Google Shape;260;p23" title="Screenshot 2026-02-15 092438.png"/>
          <p:cNvPicPr preferRelativeResize="0"/>
          <p:nvPr/>
        </p:nvPicPr>
        <p:blipFill>
          <a:blip r:embed="rId4">
            <a:alphaModFix/>
          </a:blip>
          <a:stretch>
            <a:fillRect/>
          </a:stretch>
        </p:blipFill>
        <p:spPr>
          <a:xfrm>
            <a:off x="4854500" y="1416250"/>
            <a:ext cx="6811949" cy="44569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4" name="Shape 264"/>
        <p:cNvGrpSpPr/>
        <p:nvPr/>
      </p:nvGrpSpPr>
      <p:grpSpPr>
        <a:xfrm>
          <a:off x="0" y="0"/>
          <a:ext cx="0" cy="0"/>
          <a:chOff x="0" y="0"/>
          <a:chExt cx="0" cy="0"/>
        </a:xfrm>
      </p:grpSpPr>
      <p:sp>
        <p:nvSpPr>
          <p:cNvPr id="265" name="Google Shape;265;p2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66" name="Google Shape;266;p24"/>
          <p:cNvSpPr txBox="1"/>
          <p:nvPr>
            <p:ph idx="1" type="body"/>
          </p:nvPr>
        </p:nvSpPr>
        <p:spPr>
          <a:xfrm>
            <a:off x="770000" y="1825625"/>
            <a:ext cx="57687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There are four unique launch sites used as shown in the query result.</a:t>
            </a:r>
            <a:endParaRPr b="0" i="0" sz="1400" u="none" cap="none" strike="noStrike">
              <a:solidFill>
                <a:srgbClr val="000000"/>
              </a:solidFill>
              <a:latin typeface="Arial"/>
              <a:ea typeface="Arial"/>
              <a:cs typeface="Arial"/>
              <a:sym typeface="Arial"/>
            </a:endParaRPr>
          </a:p>
        </p:txBody>
      </p:sp>
      <p:sp>
        <p:nvSpPr>
          <p:cNvPr id="267" name="Google Shape;267;p24"/>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All Launch Site Names</a:t>
            </a:r>
            <a:endParaRPr b="0" i="0" sz="1400" u="none" cap="none" strike="noStrike">
              <a:solidFill>
                <a:srgbClr val="000000"/>
              </a:solidFill>
              <a:latin typeface="Arial"/>
              <a:ea typeface="Arial"/>
              <a:cs typeface="Arial"/>
              <a:sym typeface="Arial"/>
            </a:endParaRPr>
          </a:p>
        </p:txBody>
      </p:sp>
      <p:pic>
        <p:nvPicPr>
          <p:cNvPr id="268" name="Google Shape;268;p24" title="Screenshot 2026-02-15 092701.png"/>
          <p:cNvPicPr preferRelativeResize="0"/>
          <p:nvPr/>
        </p:nvPicPr>
        <p:blipFill>
          <a:blip r:embed="rId4">
            <a:alphaModFix/>
          </a:blip>
          <a:stretch>
            <a:fillRect/>
          </a:stretch>
        </p:blipFill>
        <p:spPr>
          <a:xfrm>
            <a:off x="6538700" y="1517150"/>
            <a:ext cx="5348500" cy="299153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25"/>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74" name="Google Shape;274;p25"/>
          <p:cNvSpPr txBox="1"/>
          <p:nvPr>
            <p:ph idx="1" type="body"/>
          </p:nvPr>
        </p:nvSpPr>
        <p:spPr>
          <a:xfrm>
            <a:off x="770000" y="4221800"/>
            <a:ext cx="7735500" cy="19551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Above are</a:t>
            </a:r>
            <a:r>
              <a:rPr b="0" i="0" lang="en-US" sz="2200" u="none" cap="none" strike="noStrike">
                <a:solidFill>
                  <a:srgbClr val="292929"/>
                </a:solidFill>
                <a:latin typeface="Arial"/>
                <a:ea typeface="Arial"/>
                <a:cs typeface="Arial"/>
                <a:sym typeface="Arial"/>
              </a:rPr>
              <a:t> 5 records where launch sites begin with `CCA`</a:t>
            </a:r>
            <a:endParaRPr b="0" i="0" sz="1400" u="none" cap="none" strike="noStrike">
              <a:solidFill>
                <a:srgbClr val="000000"/>
              </a:solidFill>
              <a:latin typeface="Arial"/>
              <a:ea typeface="Arial"/>
              <a:cs typeface="Arial"/>
              <a:sym typeface="Arial"/>
            </a:endParaRPr>
          </a:p>
        </p:txBody>
      </p:sp>
      <p:sp>
        <p:nvSpPr>
          <p:cNvPr id="275" name="Google Shape;275;p25"/>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Launch Site Names Begin with 'CCA'</a:t>
            </a:r>
            <a:endParaRPr b="0" i="0" sz="1400" u="none" cap="none" strike="noStrike">
              <a:solidFill>
                <a:srgbClr val="000000"/>
              </a:solidFill>
              <a:latin typeface="Arial"/>
              <a:ea typeface="Arial"/>
              <a:cs typeface="Arial"/>
              <a:sym typeface="Arial"/>
            </a:endParaRPr>
          </a:p>
        </p:txBody>
      </p:sp>
      <p:pic>
        <p:nvPicPr>
          <p:cNvPr id="276" name="Google Shape;276;p25" title="Screenshot 2026-02-15 092757.png"/>
          <p:cNvPicPr preferRelativeResize="0"/>
          <p:nvPr/>
        </p:nvPicPr>
        <p:blipFill>
          <a:blip r:embed="rId4">
            <a:alphaModFix/>
          </a:blip>
          <a:stretch>
            <a:fillRect/>
          </a:stretch>
        </p:blipFill>
        <p:spPr>
          <a:xfrm>
            <a:off x="1804950" y="1367050"/>
            <a:ext cx="7735452" cy="24673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0" name="Shape 280"/>
        <p:cNvGrpSpPr/>
        <p:nvPr/>
      </p:nvGrpSpPr>
      <p:grpSpPr>
        <a:xfrm>
          <a:off x="0" y="0"/>
          <a:ext cx="0" cy="0"/>
          <a:chOff x="0" y="0"/>
          <a:chExt cx="0" cy="0"/>
        </a:xfrm>
      </p:grpSpPr>
      <p:sp>
        <p:nvSpPr>
          <p:cNvPr id="281" name="Google Shape;281;p26"/>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82" name="Google Shape;282;p26"/>
          <p:cNvSpPr txBox="1"/>
          <p:nvPr>
            <p:ph idx="1" type="body"/>
          </p:nvPr>
        </p:nvSpPr>
        <p:spPr>
          <a:xfrm>
            <a:off x="770000" y="3321250"/>
            <a:ext cx="9745500" cy="28557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a:t>
            </a:r>
            <a:r>
              <a:rPr b="0" i="0" lang="en-US" sz="2200" u="none" cap="none" strike="noStrike">
                <a:solidFill>
                  <a:srgbClr val="292929"/>
                </a:solidFill>
                <a:latin typeface="Arial"/>
                <a:ea typeface="Arial"/>
                <a:cs typeface="Arial"/>
                <a:sym typeface="Arial"/>
              </a:rPr>
              <a:t>he total payload carried by boosters from NASA is 48 213 KGs as shown by the que</a:t>
            </a:r>
            <a:r>
              <a:rPr lang="en-US" sz="2200">
                <a:solidFill>
                  <a:srgbClr val="292929"/>
                </a:solidFill>
              </a:rPr>
              <a:t>ry result above.</a:t>
            </a:r>
            <a:endParaRPr b="0" i="0" sz="1400" u="none" cap="none" strike="noStrike">
              <a:solidFill>
                <a:srgbClr val="000000"/>
              </a:solidFill>
              <a:latin typeface="Arial"/>
              <a:ea typeface="Arial"/>
              <a:cs typeface="Arial"/>
              <a:sym typeface="Arial"/>
            </a:endParaRPr>
          </a:p>
        </p:txBody>
      </p:sp>
      <p:sp>
        <p:nvSpPr>
          <p:cNvPr id="283" name="Google Shape;283;p26"/>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Total Payload Mass</a:t>
            </a:r>
            <a:endParaRPr b="0" i="0" sz="1400" u="none" cap="none" strike="noStrike">
              <a:solidFill>
                <a:srgbClr val="000000"/>
              </a:solidFill>
              <a:latin typeface="Arial"/>
              <a:ea typeface="Arial"/>
              <a:cs typeface="Arial"/>
              <a:sym typeface="Arial"/>
            </a:endParaRPr>
          </a:p>
        </p:txBody>
      </p:sp>
      <p:pic>
        <p:nvPicPr>
          <p:cNvPr id="284" name="Google Shape;284;p26" title="Screenshot 2026-02-15 111141.png"/>
          <p:cNvPicPr preferRelativeResize="0"/>
          <p:nvPr/>
        </p:nvPicPr>
        <p:blipFill>
          <a:blip r:embed="rId4">
            <a:alphaModFix/>
          </a:blip>
          <a:stretch>
            <a:fillRect/>
          </a:stretch>
        </p:blipFill>
        <p:spPr>
          <a:xfrm>
            <a:off x="1035825" y="1309325"/>
            <a:ext cx="10120344" cy="1928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8" name="Shape 288"/>
        <p:cNvGrpSpPr/>
        <p:nvPr/>
      </p:nvGrpSpPr>
      <p:grpSpPr>
        <a:xfrm>
          <a:off x="0" y="0"/>
          <a:ext cx="0" cy="0"/>
          <a:chOff x="0" y="0"/>
          <a:chExt cx="0" cy="0"/>
        </a:xfrm>
      </p:grpSpPr>
      <p:sp>
        <p:nvSpPr>
          <p:cNvPr id="289" name="Google Shape;289;p27"/>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90" name="Google Shape;290;p27"/>
          <p:cNvSpPr txBox="1"/>
          <p:nvPr>
            <p:ph idx="1" type="body"/>
          </p:nvPr>
        </p:nvSpPr>
        <p:spPr>
          <a:xfrm>
            <a:off x="770000" y="3690700"/>
            <a:ext cx="9745500" cy="24861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a:t>
            </a:r>
            <a:r>
              <a:rPr b="0" i="0" lang="en-US" sz="2200" u="none" cap="none" strike="noStrike">
                <a:solidFill>
                  <a:srgbClr val="292929"/>
                </a:solidFill>
                <a:latin typeface="Arial"/>
                <a:ea typeface="Arial"/>
                <a:cs typeface="Arial"/>
                <a:sym typeface="Arial"/>
              </a:rPr>
              <a:t>he average payload mass carried by booster version F9 v1.1 is 2 928.4 KGs</a:t>
            </a:r>
            <a:r>
              <a:rPr lang="en-US" sz="2200">
                <a:solidFill>
                  <a:srgbClr val="292929"/>
                </a:solidFill>
              </a:rPr>
              <a:t>, shown by the query result above.</a:t>
            </a:r>
            <a:endParaRPr b="0" i="0" sz="1400" u="none" cap="none" strike="noStrike">
              <a:solidFill>
                <a:srgbClr val="000000"/>
              </a:solidFill>
              <a:latin typeface="Arial"/>
              <a:ea typeface="Arial"/>
              <a:cs typeface="Arial"/>
              <a:sym typeface="Arial"/>
            </a:endParaRPr>
          </a:p>
        </p:txBody>
      </p:sp>
      <p:sp>
        <p:nvSpPr>
          <p:cNvPr id="291" name="Google Shape;291;p27"/>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Average Payload Mass by F9 v1.1</a:t>
            </a:r>
            <a:endParaRPr b="0" i="0" sz="1400" u="none" cap="none" strike="noStrike">
              <a:solidFill>
                <a:srgbClr val="000000"/>
              </a:solidFill>
              <a:latin typeface="Arial"/>
              <a:ea typeface="Arial"/>
              <a:cs typeface="Arial"/>
              <a:sym typeface="Arial"/>
            </a:endParaRPr>
          </a:p>
        </p:txBody>
      </p:sp>
      <p:pic>
        <p:nvPicPr>
          <p:cNvPr id="292" name="Google Shape;292;p27" title="Screenshot 2026-02-15 111259.png"/>
          <p:cNvPicPr preferRelativeResize="0"/>
          <p:nvPr/>
        </p:nvPicPr>
        <p:blipFill>
          <a:blip r:embed="rId4">
            <a:alphaModFix/>
          </a:blip>
          <a:stretch>
            <a:fillRect/>
          </a:stretch>
        </p:blipFill>
        <p:spPr>
          <a:xfrm>
            <a:off x="554737" y="1402413"/>
            <a:ext cx="10946124" cy="1973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28"/>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298" name="Google Shape;298;p28"/>
          <p:cNvSpPr txBox="1"/>
          <p:nvPr>
            <p:ph idx="1" type="body"/>
          </p:nvPr>
        </p:nvSpPr>
        <p:spPr>
          <a:xfrm>
            <a:off x="770000" y="3829250"/>
            <a:ext cx="9745500" cy="23475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a:t>
            </a:r>
            <a:r>
              <a:rPr b="0" i="0" lang="en-US" sz="2200" u="none" cap="none" strike="noStrike">
                <a:solidFill>
                  <a:srgbClr val="292929"/>
                </a:solidFill>
                <a:latin typeface="Arial"/>
                <a:ea typeface="Arial"/>
                <a:cs typeface="Arial"/>
                <a:sym typeface="Arial"/>
              </a:rPr>
              <a:t>he first successful landing outcome on ground pad took p</a:t>
            </a:r>
            <a:r>
              <a:rPr lang="en-US" sz="2200">
                <a:solidFill>
                  <a:srgbClr val="292929"/>
                </a:solidFill>
              </a:rPr>
              <a:t>lace on the 22nd of December 2015.</a:t>
            </a:r>
            <a:endParaRPr b="0" i="0" sz="1400" u="none" cap="none" strike="noStrike">
              <a:solidFill>
                <a:srgbClr val="000000"/>
              </a:solidFill>
              <a:latin typeface="Arial"/>
              <a:ea typeface="Arial"/>
              <a:cs typeface="Arial"/>
              <a:sym typeface="Arial"/>
            </a:endParaRPr>
          </a:p>
        </p:txBody>
      </p:sp>
      <p:sp>
        <p:nvSpPr>
          <p:cNvPr id="299" name="Google Shape;299;p28"/>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First Successful Ground Landing Date</a:t>
            </a:r>
            <a:endParaRPr b="0" i="0" sz="1400" u="none" cap="none" strike="noStrike">
              <a:solidFill>
                <a:srgbClr val="000000"/>
              </a:solidFill>
              <a:latin typeface="Arial"/>
              <a:ea typeface="Arial"/>
              <a:cs typeface="Arial"/>
              <a:sym typeface="Arial"/>
            </a:endParaRPr>
          </a:p>
        </p:txBody>
      </p:sp>
      <p:pic>
        <p:nvPicPr>
          <p:cNvPr id="300" name="Google Shape;300;p28" title="Screenshot 2026-02-15 111359.png"/>
          <p:cNvPicPr preferRelativeResize="0"/>
          <p:nvPr/>
        </p:nvPicPr>
        <p:blipFill>
          <a:blip r:embed="rId4">
            <a:alphaModFix/>
          </a:blip>
          <a:stretch>
            <a:fillRect/>
          </a:stretch>
        </p:blipFill>
        <p:spPr>
          <a:xfrm>
            <a:off x="661950" y="1381600"/>
            <a:ext cx="10714174" cy="2295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29"/>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06" name="Google Shape;306;p29"/>
          <p:cNvSpPr txBox="1"/>
          <p:nvPr>
            <p:ph idx="1" type="body"/>
          </p:nvPr>
        </p:nvSpPr>
        <p:spPr>
          <a:xfrm>
            <a:off x="770000" y="5283975"/>
            <a:ext cx="9745500" cy="892800"/>
          </a:xfrm>
          <a:prstGeom prst="rect">
            <a:avLst/>
          </a:prstGeom>
          <a:noFill/>
          <a:ln>
            <a:noFill/>
          </a:ln>
        </p:spPr>
        <p:txBody>
          <a:bodyPr anchorCtr="0" anchor="t" bIns="45700" lIns="91425" spcFirstLastPara="1" rIns="91425" wrap="square" tIns="45700">
            <a:normAutofit fontScale="85000" lnSpcReduction="20000"/>
          </a:bodyPr>
          <a:lstStyle/>
          <a:p>
            <a:pPr indent="-207645" lvl="0" marL="228600" marR="0" rtl="0" algn="l">
              <a:lnSpc>
                <a:spcPct val="100000"/>
              </a:lnSpc>
              <a:spcBef>
                <a:spcPts val="0"/>
              </a:spcBef>
              <a:spcAft>
                <a:spcPts val="0"/>
              </a:spcAft>
              <a:buClr>
                <a:srgbClr val="292929"/>
              </a:buClr>
              <a:buSzPct val="100000"/>
              <a:buFont typeface="Arial"/>
              <a:buChar char="•"/>
            </a:pPr>
            <a:r>
              <a:rPr lang="en-US" sz="2200">
                <a:solidFill>
                  <a:srgbClr val="292929"/>
                </a:solidFill>
              </a:rPr>
              <a:t>Above is a query result with a l</a:t>
            </a:r>
            <a:r>
              <a:rPr b="0" i="0" lang="en-US" sz="2200" u="none" cap="none" strike="noStrike">
                <a:solidFill>
                  <a:srgbClr val="292929"/>
                </a:solidFill>
                <a:latin typeface="Arial"/>
                <a:ea typeface="Arial"/>
                <a:cs typeface="Arial"/>
                <a:sym typeface="Arial"/>
              </a:rPr>
              <a:t>ist</a:t>
            </a:r>
            <a:r>
              <a:rPr lang="en-US" sz="2200">
                <a:solidFill>
                  <a:srgbClr val="292929"/>
                </a:solidFill>
              </a:rPr>
              <a:t> o</a:t>
            </a:r>
            <a:r>
              <a:rPr b="0" i="0" lang="en-US" sz="2200" u="none" cap="none" strike="noStrike">
                <a:solidFill>
                  <a:srgbClr val="292929"/>
                </a:solidFill>
                <a:latin typeface="Arial"/>
                <a:ea typeface="Arial"/>
                <a:cs typeface="Arial"/>
                <a:sym typeface="Arial"/>
              </a:rPr>
              <a:t>f boosters which have successfully landed on drone ship and had payload mass greater than 4000 but less than 6000</a:t>
            </a:r>
            <a:endParaRPr b="0" i="0" sz="2200" u="none" cap="none" strike="noStrike">
              <a:solidFill>
                <a:srgbClr val="292929"/>
              </a:solidFill>
              <a:latin typeface="Arial"/>
              <a:ea typeface="Arial"/>
              <a:cs typeface="Arial"/>
              <a:sym typeface="Arial"/>
            </a:endParaRPr>
          </a:p>
          <a:p>
            <a:pPr indent="0" lvl="0" marL="0" marR="0" rtl="0" algn="l">
              <a:lnSpc>
                <a:spcPct val="100000"/>
              </a:lnSpc>
              <a:spcBef>
                <a:spcPts val="140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29"/>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6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Successful Drone Ship Landing with Payload between 4000 and 6000</a:t>
            </a:r>
            <a:endParaRPr b="0" i="0" sz="1400" u="none" cap="none" strike="noStrike">
              <a:solidFill>
                <a:srgbClr val="000000"/>
              </a:solidFill>
              <a:latin typeface="Arial"/>
              <a:ea typeface="Arial"/>
              <a:cs typeface="Arial"/>
              <a:sym typeface="Arial"/>
            </a:endParaRPr>
          </a:p>
        </p:txBody>
      </p:sp>
      <p:pic>
        <p:nvPicPr>
          <p:cNvPr id="308" name="Google Shape;308;p29" title="Screenshot 2026-02-15 111622.png"/>
          <p:cNvPicPr preferRelativeResize="0"/>
          <p:nvPr/>
        </p:nvPicPr>
        <p:blipFill>
          <a:blip r:embed="rId4">
            <a:alphaModFix/>
          </a:blip>
          <a:stretch>
            <a:fillRect/>
          </a:stretch>
        </p:blipFill>
        <p:spPr>
          <a:xfrm>
            <a:off x="263150" y="1392450"/>
            <a:ext cx="8014183" cy="3891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sp>
        <p:nvSpPr>
          <p:cNvPr id="313" name="Google Shape;313;p3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14" name="Google Shape;314;p30"/>
          <p:cNvSpPr txBox="1"/>
          <p:nvPr>
            <p:ph idx="1" type="body"/>
          </p:nvPr>
        </p:nvSpPr>
        <p:spPr>
          <a:xfrm>
            <a:off x="770000" y="3759975"/>
            <a:ext cx="9745500" cy="2416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The total </a:t>
            </a:r>
            <a:r>
              <a:rPr b="0" i="0" lang="en-US" sz="2200" u="none" cap="none" strike="noStrike">
                <a:solidFill>
                  <a:srgbClr val="292929"/>
                </a:solidFill>
                <a:latin typeface="Arial"/>
                <a:ea typeface="Arial"/>
                <a:cs typeface="Arial"/>
                <a:sym typeface="Arial"/>
              </a:rPr>
              <a:t>number of successful and failure mission outcomes is 101.</a:t>
            </a:r>
            <a:endParaRPr b="0" i="0" sz="1400" u="none" cap="none" strike="noStrike">
              <a:solidFill>
                <a:srgbClr val="000000"/>
              </a:solidFill>
              <a:latin typeface="Arial"/>
              <a:ea typeface="Arial"/>
              <a:cs typeface="Arial"/>
              <a:sym typeface="Arial"/>
            </a:endParaRPr>
          </a:p>
        </p:txBody>
      </p:sp>
      <p:sp>
        <p:nvSpPr>
          <p:cNvPr id="315" name="Google Shape;315;p30"/>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77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Total Number of Successful and Failure Mission Outcomes</a:t>
            </a:r>
            <a:endParaRPr b="0" i="0" sz="1400" u="none" cap="none" strike="noStrike">
              <a:solidFill>
                <a:srgbClr val="000000"/>
              </a:solidFill>
              <a:latin typeface="Arial"/>
              <a:ea typeface="Arial"/>
              <a:cs typeface="Arial"/>
              <a:sym typeface="Arial"/>
            </a:endParaRPr>
          </a:p>
        </p:txBody>
      </p:sp>
      <p:pic>
        <p:nvPicPr>
          <p:cNvPr id="316" name="Google Shape;316;p30" title="Screenshot 2026-02-15 111659.png"/>
          <p:cNvPicPr preferRelativeResize="0"/>
          <p:nvPr/>
        </p:nvPicPr>
        <p:blipFill>
          <a:blip r:embed="rId4">
            <a:alphaModFix/>
          </a:blip>
          <a:stretch>
            <a:fillRect/>
          </a:stretch>
        </p:blipFill>
        <p:spPr>
          <a:xfrm>
            <a:off x="1523400" y="1439900"/>
            <a:ext cx="7191375" cy="2105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p31"/>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22" name="Google Shape;322;p31"/>
          <p:cNvSpPr txBox="1"/>
          <p:nvPr>
            <p:ph idx="1" type="body"/>
          </p:nvPr>
        </p:nvSpPr>
        <p:spPr>
          <a:xfrm>
            <a:off x="770007" y="1825625"/>
            <a:ext cx="31362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There are 12 different</a:t>
            </a:r>
            <a:r>
              <a:rPr b="0" i="0" lang="en-US" sz="2200" u="none" cap="none" strike="noStrike">
                <a:solidFill>
                  <a:srgbClr val="292929"/>
                </a:solidFill>
                <a:latin typeface="Arial"/>
                <a:ea typeface="Arial"/>
                <a:cs typeface="Arial"/>
                <a:sym typeface="Arial"/>
              </a:rPr>
              <a:t> boosters which have carried the maximum payload mass</a:t>
            </a:r>
            <a:r>
              <a:rPr lang="en-US"/>
              <a:t>.</a:t>
            </a:r>
            <a:endParaRPr b="0" i="0" sz="1400" u="none" cap="none" strike="noStrike">
              <a:solidFill>
                <a:srgbClr val="000000"/>
              </a:solidFill>
              <a:latin typeface="Arial"/>
              <a:ea typeface="Arial"/>
              <a:cs typeface="Arial"/>
              <a:sym typeface="Arial"/>
            </a:endParaRPr>
          </a:p>
        </p:txBody>
      </p:sp>
      <p:sp>
        <p:nvSpPr>
          <p:cNvPr id="323" name="Google Shape;323;p31"/>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Boosters Carried Maximum Payload</a:t>
            </a:r>
            <a:endParaRPr b="0" i="0" sz="1400" u="none" cap="none" strike="noStrike">
              <a:solidFill>
                <a:srgbClr val="000000"/>
              </a:solidFill>
              <a:latin typeface="Arial"/>
              <a:ea typeface="Arial"/>
              <a:cs typeface="Arial"/>
              <a:sym typeface="Arial"/>
            </a:endParaRPr>
          </a:p>
        </p:txBody>
      </p:sp>
      <p:pic>
        <p:nvPicPr>
          <p:cNvPr id="324" name="Google Shape;324;p31" title="Screenshot 2026-02-15 111605.png"/>
          <p:cNvPicPr preferRelativeResize="0"/>
          <p:nvPr/>
        </p:nvPicPr>
        <p:blipFill>
          <a:blip r:embed="rId4">
            <a:alphaModFix/>
          </a:blip>
          <a:stretch>
            <a:fillRect/>
          </a:stretch>
        </p:blipFill>
        <p:spPr>
          <a:xfrm>
            <a:off x="4448850" y="1494050"/>
            <a:ext cx="7602275" cy="45315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8" name="Shape 328"/>
        <p:cNvGrpSpPr/>
        <p:nvPr/>
      </p:nvGrpSpPr>
      <p:grpSpPr>
        <a:xfrm>
          <a:off x="0" y="0"/>
          <a:ext cx="0" cy="0"/>
          <a:chOff x="0" y="0"/>
          <a:chExt cx="0" cy="0"/>
        </a:xfrm>
      </p:grpSpPr>
      <p:sp>
        <p:nvSpPr>
          <p:cNvPr id="329" name="Google Shape;329;p32"/>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30" name="Google Shape;330;p32"/>
          <p:cNvSpPr txBox="1"/>
          <p:nvPr>
            <p:ph idx="1" type="body"/>
          </p:nvPr>
        </p:nvSpPr>
        <p:spPr>
          <a:xfrm>
            <a:off x="770000" y="3702250"/>
            <a:ext cx="9745500" cy="24747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Th</a:t>
            </a:r>
            <a:r>
              <a:rPr b="0" i="0" lang="en-US" sz="2200" u="none" cap="none" strike="noStrike">
                <a:solidFill>
                  <a:srgbClr val="292929"/>
                </a:solidFill>
                <a:latin typeface="Arial"/>
                <a:ea typeface="Arial"/>
                <a:cs typeface="Arial"/>
                <a:sym typeface="Arial"/>
              </a:rPr>
              <a:t>ey were 2 failed landing_outcomes in drone ship in January and April 20</a:t>
            </a:r>
            <a:r>
              <a:rPr lang="en-US" sz="2200">
                <a:solidFill>
                  <a:srgbClr val="292929"/>
                </a:solidFill>
              </a:rPr>
              <a:t>15 both of the same booster version and from the same launch site.</a:t>
            </a:r>
            <a:endParaRPr b="0" i="0" sz="2800" u="none" cap="none" strike="noStrike">
              <a:solidFill>
                <a:srgbClr val="292929"/>
              </a:solidFill>
              <a:latin typeface="Arial"/>
              <a:ea typeface="Arial"/>
              <a:cs typeface="Arial"/>
              <a:sym typeface="Arial"/>
            </a:endParaRPr>
          </a:p>
        </p:txBody>
      </p:sp>
      <p:sp>
        <p:nvSpPr>
          <p:cNvPr id="331" name="Google Shape;331;p32"/>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2015 Launch Records</a:t>
            </a:r>
            <a:endParaRPr b="0" i="0" sz="1400" u="none" cap="none" strike="noStrike">
              <a:solidFill>
                <a:srgbClr val="000000"/>
              </a:solidFill>
              <a:latin typeface="Arial"/>
              <a:ea typeface="Arial"/>
              <a:cs typeface="Arial"/>
              <a:sym typeface="Arial"/>
            </a:endParaRPr>
          </a:p>
        </p:txBody>
      </p:sp>
      <p:pic>
        <p:nvPicPr>
          <p:cNvPr id="332" name="Google Shape;332;p32" title="Screenshot 2026-02-15 111851.png"/>
          <p:cNvPicPr preferRelativeResize="0"/>
          <p:nvPr/>
        </p:nvPicPr>
        <p:blipFill>
          <a:blip r:embed="rId4">
            <a:alphaModFix/>
          </a:blip>
          <a:stretch>
            <a:fillRect/>
          </a:stretch>
        </p:blipFill>
        <p:spPr>
          <a:xfrm>
            <a:off x="1664875" y="1566275"/>
            <a:ext cx="7639050" cy="1657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33"/>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38" name="Google Shape;338;p33"/>
          <p:cNvSpPr txBox="1"/>
          <p:nvPr>
            <p:ph idx="1" type="body"/>
          </p:nvPr>
        </p:nvSpPr>
        <p:spPr>
          <a:xfrm>
            <a:off x="770003" y="1825625"/>
            <a:ext cx="6669000" cy="4351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The landing outcomes shows that there we more </a:t>
            </a:r>
            <a:r>
              <a:rPr b="0" i="0" lang="en-US" sz="2200" u="none" cap="none" strike="noStrike">
                <a:solidFill>
                  <a:srgbClr val="292929"/>
                </a:solidFill>
                <a:latin typeface="Arial"/>
                <a:ea typeface="Arial"/>
                <a:cs typeface="Arial"/>
                <a:sym typeface="Arial"/>
              </a:rPr>
              <a:t>Failure (drone ship) </a:t>
            </a:r>
            <a:r>
              <a:rPr lang="en-US" sz="2200">
                <a:solidFill>
                  <a:srgbClr val="292929"/>
                </a:solidFill>
              </a:rPr>
              <a:t>than</a:t>
            </a:r>
            <a:r>
              <a:rPr b="0" i="0" lang="en-US" sz="2200" u="none" cap="none" strike="noStrike">
                <a:solidFill>
                  <a:srgbClr val="292929"/>
                </a:solidFill>
                <a:latin typeface="Arial"/>
                <a:ea typeface="Arial"/>
                <a:cs typeface="Arial"/>
                <a:sym typeface="Arial"/>
              </a:rPr>
              <a:t> Success (ground pad)) between the date 2010-06-04 and 2017-03-20</a:t>
            </a:r>
            <a:r>
              <a:rPr lang="en-US" sz="2200">
                <a:solidFill>
                  <a:srgbClr val="292929"/>
                </a:solidFil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33"/>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700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Rank Landing Outcomes Between 2010-06-04 and 2017-03-20</a:t>
            </a:r>
            <a:endParaRPr b="0" i="0" sz="1400" u="none" cap="none" strike="noStrike">
              <a:solidFill>
                <a:srgbClr val="000000"/>
              </a:solidFill>
              <a:latin typeface="Arial"/>
              <a:ea typeface="Arial"/>
              <a:cs typeface="Arial"/>
              <a:sym typeface="Arial"/>
            </a:endParaRPr>
          </a:p>
        </p:txBody>
      </p:sp>
      <p:pic>
        <p:nvPicPr>
          <p:cNvPr id="340" name="Google Shape;340;p33" title="Screenshot 2026-02-15 112324.png"/>
          <p:cNvPicPr preferRelativeResize="0"/>
          <p:nvPr/>
        </p:nvPicPr>
        <p:blipFill>
          <a:blip r:embed="rId4">
            <a:alphaModFix/>
          </a:blip>
          <a:stretch>
            <a:fillRect/>
          </a:stretch>
        </p:blipFill>
        <p:spPr>
          <a:xfrm>
            <a:off x="7591403" y="1240050"/>
            <a:ext cx="4448197" cy="35108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4" name="Shape 344"/>
        <p:cNvGrpSpPr/>
        <p:nvPr/>
      </p:nvGrpSpPr>
      <p:grpSpPr>
        <a:xfrm>
          <a:off x="0" y="0"/>
          <a:ext cx="0" cy="0"/>
          <a:chOff x="0" y="0"/>
          <a:chExt cx="0" cy="0"/>
        </a:xfrm>
      </p:grpSpPr>
      <p:sp>
        <p:nvSpPr>
          <p:cNvPr id="345" name="Google Shape;345;p34"/>
          <p:cNvSpPr txBox="1"/>
          <p:nvPr/>
        </p:nvSpPr>
        <p:spPr>
          <a:xfrm>
            <a:off x="797970" y="2529746"/>
            <a:ext cx="1058400" cy="369300"/>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Section 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9" name="Shape 349"/>
        <p:cNvGrpSpPr/>
        <p:nvPr/>
      </p:nvGrpSpPr>
      <p:grpSpPr>
        <a:xfrm>
          <a:off x="0" y="0"/>
          <a:ext cx="0" cy="0"/>
          <a:chOff x="0" y="0"/>
          <a:chExt cx="0" cy="0"/>
        </a:xfrm>
      </p:grpSpPr>
      <p:sp>
        <p:nvSpPr>
          <p:cNvPr id="350" name="Google Shape;350;p35"/>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51" name="Google Shape;351;p35"/>
          <p:cNvSpPr txBox="1"/>
          <p:nvPr>
            <p:ph idx="1" type="body"/>
          </p:nvPr>
        </p:nvSpPr>
        <p:spPr>
          <a:xfrm>
            <a:off x="770000" y="1825625"/>
            <a:ext cx="5325900" cy="4351200"/>
          </a:xfrm>
          <a:prstGeom prst="rect">
            <a:avLst/>
          </a:prstGeom>
          <a:noFill/>
          <a:ln>
            <a:noFill/>
          </a:ln>
        </p:spPr>
        <p:txBody>
          <a:bodyPr anchorCtr="0" anchor="t" bIns="45700" lIns="91425" spcFirstLastPara="1" rIns="91425" wrap="square" tIns="45700">
            <a:normAutofit fontScale="92500" lnSpcReduction="20000"/>
          </a:bodyPr>
          <a:lstStyle/>
          <a:p>
            <a:pPr indent="-218122" lvl="0" marL="228600" marR="0" rtl="0" algn="l">
              <a:lnSpc>
                <a:spcPct val="100000"/>
              </a:lnSpc>
              <a:spcBef>
                <a:spcPts val="1400"/>
              </a:spcBef>
              <a:spcAft>
                <a:spcPts val="0"/>
              </a:spcAft>
              <a:buClr>
                <a:srgbClr val="292929"/>
              </a:buClr>
              <a:buSzPct val="100000"/>
              <a:buFont typeface="Arial"/>
              <a:buChar char="•"/>
            </a:pPr>
            <a:r>
              <a:rPr b="1" lang="en-US" sz="2200">
                <a:solidFill>
                  <a:srgbClr val="292929"/>
                </a:solidFill>
              </a:rPr>
              <a:t>Coastal Placements</a:t>
            </a:r>
            <a:r>
              <a:rPr lang="en-US" sz="2200">
                <a:solidFill>
                  <a:srgbClr val="292929"/>
                </a:solidFill>
              </a:rPr>
              <a:t>: All sites are located near coastlines to allow rockets to fly over the ocean, minimising risk to populated areas.</a:t>
            </a:r>
            <a:endParaRPr sz="2200">
              <a:solidFill>
                <a:srgbClr val="292929"/>
              </a:solidFill>
            </a:endParaRPr>
          </a:p>
          <a:p>
            <a:pPr indent="-218122" lvl="0" marL="228600" marR="0" rtl="0" algn="l">
              <a:lnSpc>
                <a:spcPct val="100000"/>
              </a:lnSpc>
              <a:spcBef>
                <a:spcPts val="1400"/>
              </a:spcBef>
              <a:spcAft>
                <a:spcPts val="0"/>
              </a:spcAft>
              <a:buClr>
                <a:srgbClr val="292929"/>
              </a:buClr>
              <a:buSzPct val="100000"/>
              <a:buChar char="•"/>
            </a:pPr>
            <a:r>
              <a:rPr b="1" lang="en-US" sz="2200">
                <a:solidFill>
                  <a:srgbClr val="292929"/>
                </a:solidFill>
              </a:rPr>
              <a:t>Transport Efficiency</a:t>
            </a:r>
            <a:r>
              <a:rPr lang="en-US" sz="2200">
                <a:solidFill>
                  <a:srgbClr val="292929"/>
                </a:solidFill>
              </a:rPr>
              <a:t>: Proximity to railways and highways is essential </a:t>
            </a:r>
            <a:r>
              <a:rPr lang="en-US" sz="2200">
                <a:solidFill>
                  <a:srgbClr val="292929"/>
                </a:solidFill>
              </a:rPr>
              <a:t>for</a:t>
            </a:r>
            <a:r>
              <a:rPr lang="en-US" sz="2200">
                <a:solidFill>
                  <a:srgbClr val="292929"/>
                </a:solidFill>
              </a:rPr>
              <a:t> the transport of massive rocket </a:t>
            </a:r>
            <a:r>
              <a:rPr lang="en-US" sz="2200">
                <a:solidFill>
                  <a:srgbClr val="292929"/>
                </a:solidFill>
              </a:rPr>
              <a:t>components</a:t>
            </a:r>
            <a:r>
              <a:rPr lang="en-US" sz="2200">
                <a:solidFill>
                  <a:srgbClr val="292929"/>
                </a:solidFill>
              </a:rPr>
              <a:t>.</a:t>
            </a:r>
            <a:endParaRPr sz="2200">
              <a:solidFill>
                <a:srgbClr val="292929"/>
              </a:solidFill>
            </a:endParaRPr>
          </a:p>
          <a:p>
            <a:pPr indent="-218122" lvl="0" marL="228600" marR="0" rtl="0" algn="l">
              <a:lnSpc>
                <a:spcPct val="100000"/>
              </a:lnSpc>
              <a:spcBef>
                <a:spcPts val="1400"/>
              </a:spcBef>
              <a:spcAft>
                <a:spcPts val="0"/>
              </a:spcAft>
              <a:buClr>
                <a:srgbClr val="292929"/>
              </a:buClr>
              <a:buSzPct val="100000"/>
              <a:buChar char="•"/>
            </a:pPr>
            <a:r>
              <a:rPr b="1" lang="en-US" sz="2200">
                <a:solidFill>
                  <a:srgbClr val="292929"/>
                </a:solidFill>
              </a:rPr>
              <a:t>Urban Distance</a:t>
            </a:r>
            <a:r>
              <a:rPr lang="en-US" sz="2200">
                <a:solidFill>
                  <a:srgbClr val="292929"/>
                </a:solidFill>
              </a:rPr>
              <a:t>: Launch sites are kept at a certain distance away from major cities to ensure public safety in case of failure.</a:t>
            </a:r>
            <a:endParaRPr sz="2200">
              <a:solidFill>
                <a:srgbClr val="292929"/>
              </a:solidFill>
            </a:endParaRPr>
          </a:p>
          <a:p>
            <a:pPr indent="-218122" lvl="0" marL="228600" marR="0" rtl="0" algn="l">
              <a:lnSpc>
                <a:spcPct val="100000"/>
              </a:lnSpc>
              <a:spcBef>
                <a:spcPts val="1400"/>
              </a:spcBef>
              <a:spcAft>
                <a:spcPts val="0"/>
              </a:spcAft>
              <a:buClr>
                <a:srgbClr val="292929"/>
              </a:buClr>
              <a:buSzPct val="100000"/>
              <a:buChar char="•"/>
            </a:pPr>
            <a:r>
              <a:rPr lang="en-US" sz="2200">
                <a:solidFill>
                  <a:srgbClr val="292929"/>
                </a:solidFill>
              </a:rPr>
              <a:t>Logistical efficiency and public safety are balanced through strategic site selection.</a:t>
            </a:r>
            <a:endParaRPr sz="2200">
              <a:solidFill>
                <a:srgbClr val="292929"/>
              </a:solidFill>
            </a:endParaRPr>
          </a:p>
          <a:p>
            <a:pPr indent="-5080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
        <p:nvSpPr>
          <p:cNvPr id="352" name="Google Shape;352;p35"/>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Spatial Proximity Analysis</a:t>
            </a:r>
            <a:endParaRPr b="0" i="0" sz="1400" u="none" cap="none" strike="noStrike">
              <a:solidFill>
                <a:srgbClr val="000000"/>
              </a:solidFill>
              <a:latin typeface="Arial"/>
              <a:ea typeface="Arial"/>
              <a:cs typeface="Arial"/>
              <a:sym typeface="Arial"/>
            </a:endParaRPr>
          </a:p>
        </p:txBody>
      </p:sp>
      <p:pic>
        <p:nvPicPr>
          <p:cNvPr id="353" name="Google Shape;353;p35" title="Screenshot 2026-02-19 114221.png"/>
          <p:cNvPicPr preferRelativeResize="0"/>
          <p:nvPr/>
        </p:nvPicPr>
        <p:blipFill>
          <a:blip r:embed="rId4">
            <a:alphaModFix/>
          </a:blip>
          <a:stretch>
            <a:fillRect/>
          </a:stretch>
        </p:blipFill>
        <p:spPr>
          <a:xfrm>
            <a:off x="6400700" y="1362975"/>
            <a:ext cx="5791299" cy="278840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7" name="Shape 357"/>
        <p:cNvGrpSpPr/>
        <p:nvPr/>
      </p:nvGrpSpPr>
      <p:grpSpPr>
        <a:xfrm>
          <a:off x="0" y="0"/>
          <a:ext cx="0" cy="0"/>
          <a:chOff x="0" y="0"/>
          <a:chExt cx="0" cy="0"/>
        </a:xfrm>
      </p:grpSpPr>
      <p:sp>
        <p:nvSpPr>
          <p:cNvPr id="358" name="Google Shape;358;p36"/>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59" name="Google Shape;359;p36"/>
          <p:cNvSpPr txBox="1"/>
          <p:nvPr>
            <p:ph idx="1" type="body"/>
          </p:nvPr>
        </p:nvSpPr>
        <p:spPr>
          <a:xfrm>
            <a:off x="770000" y="4358975"/>
            <a:ext cx="10823400" cy="18177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lang="en-US" sz="2200">
                <a:solidFill>
                  <a:srgbClr val="292929"/>
                </a:solidFill>
              </a:rPr>
              <a:t>T</a:t>
            </a:r>
            <a:r>
              <a:rPr b="0" i="0" lang="en-US" sz="2200" u="none" cap="none" strike="noStrike">
                <a:solidFill>
                  <a:srgbClr val="292929"/>
                </a:solidFill>
                <a:latin typeface="Arial"/>
                <a:ea typeface="Arial"/>
                <a:cs typeface="Arial"/>
                <a:sym typeface="Arial"/>
              </a:rPr>
              <a:t>he folium map shows 2 successful launches on the CCAFS SLC launch s</a:t>
            </a:r>
            <a:r>
              <a:rPr lang="en-US" sz="2200">
                <a:solidFill>
                  <a:srgbClr val="292929"/>
                </a:solidFill>
              </a:rPr>
              <a:t>it</a:t>
            </a:r>
            <a:r>
              <a:rPr b="0" i="0" lang="en-US" sz="2200" u="none" cap="none" strike="noStrike">
                <a:solidFill>
                  <a:srgbClr val="292929"/>
                </a:solidFill>
                <a:latin typeface="Arial"/>
                <a:ea typeface="Arial"/>
                <a:cs typeface="Arial"/>
                <a:sym typeface="Arial"/>
              </a:rPr>
              <a:t>e labeled green</a:t>
            </a:r>
            <a:r>
              <a:rPr lang="en-US" sz="2200">
                <a:solidFill>
                  <a:srgbClr val="292929"/>
                </a:solidFill>
              </a:rPr>
              <a:t> above.</a:t>
            </a:r>
            <a:endParaRPr b="0" i="0" sz="2800" u="none" cap="none" strike="noStrike">
              <a:solidFill>
                <a:srgbClr val="292929"/>
              </a:solidFill>
              <a:latin typeface="Arial"/>
              <a:ea typeface="Arial"/>
              <a:cs typeface="Arial"/>
              <a:sym typeface="Arial"/>
            </a:endParaRPr>
          </a:p>
          <a:p>
            <a:pPr indent="-50800" lvl="0" marL="228600" marR="0" rtl="0" algn="l">
              <a:lnSpc>
                <a:spcPct val="90000"/>
              </a:lnSpc>
              <a:spcBef>
                <a:spcPts val="1400"/>
              </a:spcBef>
              <a:spcAft>
                <a:spcPts val="0"/>
              </a:spcAft>
              <a:buClr>
                <a:schemeClr val="dk1"/>
              </a:buClr>
              <a:buSzPts val="2800"/>
              <a:buFont typeface="Arial"/>
              <a:buNone/>
            </a:pPr>
            <a:r>
              <a:t/>
            </a:r>
            <a:endParaRPr b="0" i="0" sz="2800" u="none" cap="none" strike="noStrike">
              <a:solidFill>
                <a:srgbClr val="292929"/>
              </a:solidFill>
              <a:latin typeface="Calibri"/>
              <a:ea typeface="Calibri"/>
              <a:cs typeface="Calibri"/>
              <a:sym typeface="Calibri"/>
            </a:endParaRPr>
          </a:p>
        </p:txBody>
      </p:sp>
      <p:sp>
        <p:nvSpPr>
          <p:cNvPr id="360" name="Google Shape;360;p36"/>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Launch Site CCAFS SLC-40</a:t>
            </a:r>
            <a:endParaRPr b="0" i="0" sz="1400" u="none" cap="none" strike="noStrike">
              <a:solidFill>
                <a:srgbClr val="000000"/>
              </a:solidFill>
              <a:latin typeface="Arial"/>
              <a:ea typeface="Arial"/>
              <a:cs typeface="Arial"/>
              <a:sym typeface="Arial"/>
            </a:endParaRPr>
          </a:p>
        </p:txBody>
      </p:sp>
      <p:pic>
        <p:nvPicPr>
          <p:cNvPr id="361" name="Google Shape;361;p36" title="Screenshot 2026-02-19 114529.png"/>
          <p:cNvPicPr preferRelativeResize="0"/>
          <p:nvPr/>
        </p:nvPicPr>
        <p:blipFill>
          <a:blip r:embed="rId4">
            <a:alphaModFix/>
          </a:blip>
          <a:stretch>
            <a:fillRect/>
          </a:stretch>
        </p:blipFill>
        <p:spPr>
          <a:xfrm>
            <a:off x="770000" y="1301500"/>
            <a:ext cx="5828899" cy="3057476"/>
          </a:xfrm>
          <a:prstGeom prst="rect">
            <a:avLst/>
          </a:prstGeom>
          <a:noFill/>
          <a:ln>
            <a:noFill/>
          </a:ln>
        </p:spPr>
      </p:pic>
      <p:pic>
        <p:nvPicPr>
          <p:cNvPr id="362" name="Google Shape;362;p36" title="Screenshot 2026-02-19 114707.png"/>
          <p:cNvPicPr preferRelativeResize="0"/>
          <p:nvPr/>
        </p:nvPicPr>
        <p:blipFill>
          <a:blip r:embed="rId5">
            <a:alphaModFix/>
          </a:blip>
          <a:stretch>
            <a:fillRect/>
          </a:stretch>
        </p:blipFill>
        <p:spPr>
          <a:xfrm>
            <a:off x="6705925" y="1503325"/>
            <a:ext cx="4887600" cy="24167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6" name="Shape 366"/>
        <p:cNvGrpSpPr/>
        <p:nvPr/>
      </p:nvGrpSpPr>
      <p:grpSpPr>
        <a:xfrm>
          <a:off x="0" y="0"/>
          <a:ext cx="0" cy="0"/>
          <a:chOff x="0" y="0"/>
          <a:chExt cx="0" cy="0"/>
        </a:xfrm>
      </p:grpSpPr>
      <p:sp>
        <p:nvSpPr>
          <p:cNvPr id="367" name="Google Shape;367;p37"/>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68" name="Google Shape;368;p37"/>
          <p:cNvSpPr txBox="1"/>
          <p:nvPr>
            <p:ph idx="1" type="body"/>
          </p:nvPr>
        </p:nvSpPr>
        <p:spPr>
          <a:xfrm>
            <a:off x="770002" y="1690700"/>
            <a:ext cx="3806100" cy="4314900"/>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1400"/>
              </a:spcBef>
              <a:spcAft>
                <a:spcPts val="0"/>
              </a:spcAft>
              <a:buClr>
                <a:schemeClr val="dk1"/>
              </a:buClr>
              <a:buSzPct val="100000"/>
              <a:buFont typeface="Arial"/>
              <a:buNone/>
            </a:pPr>
            <a:r>
              <a:t/>
            </a:r>
            <a:endParaRPr b="0" i="0" sz="2200" u="none" cap="none" strike="noStrike">
              <a:solidFill>
                <a:srgbClr val="292929"/>
              </a:solidFill>
              <a:latin typeface="Arial"/>
              <a:ea typeface="Arial"/>
              <a:cs typeface="Arial"/>
              <a:sym typeface="Arial"/>
            </a:endParaRPr>
          </a:p>
          <a:p>
            <a:pPr indent="-207645" lvl="0" marL="228600" marR="0" rtl="0" algn="l">
              <a:lnSpc>
                <a:spcPct val="100000"/>
              </a:lnSpc>
              <a:spcBef>
                <a:spcPts val="1400"/>
              </a:spcBef>
              <a:spcAft>
                <a:spcPts val="0"/>
              </a:spcAft>
              <a:buClr>
                <a:srgbClr val="292929"/>
              </a:buClr>
              <a:buSzPct val="100000"/>
              <a:buFont typeface="Arial"/>
              <a:buChar char="•"/>
            </a:pPr>
            <a:r>
              <a:rPr lang="en-US" sz="2200">
                <a:solidFill>
                  <a:srgbClr val="292929"/>
                </a:solidFill>
              </a:rPr>
              <a:t>T</a:t>
            </a:r>
            <a:r>
              <a:rPr b="0" i="0" lang="en-US" sz="2200" u="none" cap="none" strike="noStrike">
                <a:solidFill>
                  <a:srgbClr val="292929"/>
                </a:solidFill>
                <a:latin typeface="Arial"/>
                <a:ea typeface="Arial"/>
                <a:cs typeface="Arial"/>
                <a:sym typeface="Arial"/>
              </a:rPr>
              <a:t>he generated folium map shows the launch site CCAFS SLC</a:t>
            </a:r>
            <a:r>
              <a:rPr lang="en-US" sz="2200">
                <a:solidFill>
                  <a:srgbClr val="292929"/>
                </a:solidFill>
              </a:rPr>
              <a:t>-40</a:t>
            </a:r>
            <a:r>
              <a:rPr b="0" i="0" lang="en-US" sz="2200" u="none" cap="none" strike="noStrike">
                <a:solidFill>
                  <a:srgbClr val="292929"/>
                </a:solidFill>
                <a:latin typeface="Arial"/>
                <a:ea typeface="Arial"/>
                <a:cs typeface="Arial"/>
                <a:sym typeface="Arial"/>
              </a:rPr>
              <a:t> to its proximities </a:t>
            </a:r>
            <a:r>
              <a:rPr lang="en-US" sz="2200">
                <a:solidFill>
                  <a:srgbClr val="292929"/>
                </a:solidFill>
              </a:rPr>
              <a:t>in the screenshot</a:t>
            </a:r>
            <a:r>
              <a:rPr b="0" i="0" lang="en-US" sz="2200" u="none" cap="none" strike="noStrike">
                <a:solidFill>
                  <a:srgbClr val="292929"/>
                </a:solidFill>
                <a:latin typeface="Arial"/>
                <a:ea typeface="Arial"/>
                <a:cs typeface="Arial"/>
                <a:sym typeface="Arial"/>
              </a:rPr>
              <a:t> </a:t>
            </a:r>
            <a:r>
              <a:rPr lang="en-US" sz="2200">
                <a:solidFill>
                  <a:srgbClr val="292929"/>
                </a:solidFill>
              </a:rPr>
              <a:t>the </a:t>
            </a:r>
            <a:r>
              <a:rPr b="0" i="0" lang="en-US" sz="2200" u="none" cap="none" strike="noStrike">
                <a:solidFill>
                  <a:srgbClr val="292929"/>
                </a:solidFill>
                <a:latin typeface="Arial"/>
                <a:ea typeface="Arial"/>
                <a:cs typeface="Arial"/>
                <a:sym typeface="Arial"/>
              </a:rPr>
              <a:t>coastline, with 0.87KM </a:t>
            </a:r>
            <a:r>
              <a:rPr lang="en-US" sz="2200">
                <a:solidFill>
                  <a:srgbClr val="292929"/>
                </a:solidFill>
              </a:rPr>
              <a:t>away from the launch site</a:t>
            </a:r>
            <a:endParaRPr b="0" i="0" sz="2800" u="none" cap="none" strike="noStrike">
              <a:solidFill>
                <a:srgbClr val="292929"/>
              </a:solidFill>
              <a:latin typeface="Arial"/>
              <a:ea typeface="Arial"/>
              <a:cs typeface="Arial"/>
              <a:sym typeface="Arial"/>
            </a:endParaRPr>
          </a:p>
          <a:p>
            <a:pPr indent="-88900" lvl="0" marL="228600" marR="0" rtl="0" algn="l">
              <a:lnSpc>
                <a:spcPct val="100000"/>
              </a:lnSpc>
              <a:spcBef>
                <a:spcPts val="1400"/>
              </a:spcBef>
              <a:spcAft>
                <a:spcPts val="0"/>
              </a:spcAft>
              <a:buClr>
                <a:schemeClr val="dk1"/>
              </a:buClr>
              <a:buSzPct val="100000"/>
              <a:buFont typeface="Arial"/>
              <a:buNone/>
            </a:pPr>
            <a:r>
              <a:t/>
            </a:r>
            <a:endParaRPr b="0" i="0" sz="2200" u="none" cap="none" strike="noStrike">
              <a:solidFill>
                <a:srgbClr val="292929"/>
              </a:solidFill>
              <a:latin typeface="Arial"/>
              <a:ea typeface="Arial"/>
              <a:cs typeface="Arial"/>
              <a:sym typeface="Arial"/>
            </a:endParaRPr>
          </a:p>
          <a:p>
            <a:pPr indent="-207645" lvl="0" marL="228600" marR="0" rtl="0" algn="l">
              <a:lnSpc>
                <a:spcPct val="100000"/>
              </a:lnSpc>
              <a:spcBef>
                <a:spcPts val="1400"/>
              </a:spcBef>
              <a:spcAft>
                <a:spcPts val="0"/>
              </a:spcAft>
              <a:buClr>
                <a:srgbClr val="292929"/>
              </a:buClr>
              <a:buSzPct val="100000"/>
              <a:buFont typeface="Arial"/>
              <a:buChar char="•"/>
            </a:pPr>
            <a:r>
              <a:rPr b="1" lang="en-US" sz="2200">
                <a:solidFill>
                  <a:srgbClr val="292929"/>
                </a:solidFill>
              </a:rPr>
              <a:t>C</a:t>
            </a:r>
            <a:r>
              <a:rPr b="1" lang="en-US" sz="2200">
                <a:solidFill>
                  <a:srgbClr val="292929"/>
                </a:solidFill>
              </a:rPr>
              <a:t>oastal Placements</a:t>
            </a:r>
            <a:r>
              <a:rPr lang="en-US" sz="2200">
                <a:solidFill>
                  <a:srgbClr val="292929"/>
                </a:solidFill>
              </a:rPr>
              <a:t>: The site is located near to the coastline to allow rockets to fly over the ocean, minimising risk to populated areas.</a:t>
            </a:r>
            <a:endParaRPr b="0" i="0" sz="2800" u="none" cap="none" strike="noStrike">
              <a:solidFill>
                <a:srgbClr val="292929"/>
              </a:solidFill>
              <a:latin typeface="Arial"/>
              <a:ea typeface="Arial"/>
              <a:cs typeface="Arial"/>
              <a:sym typeface="Arial"/>
            </a:endParaRPr>
          </a:p>
          <a:p>
            <a:pPr indent="-88900" lvl="0" marL="228600" marR="0" rtl="0" algn="l">
              <a:lnSpc>
                <a:spcPct val="100000"/>
              </a:lnSpc>
              <a:spcBef>
                <a:spcPts val="1400"/>
              </a:spcBef>
              <a:spcAft>
                <a:spcPts val="0"/>
              </a:spcAft>
              <a:buClr>
                <a:schemeClr val="dk1"/>
              </a:buClr>
              <a:buSzPct val="100000"/>
              <a:buFont typeface="Arial"/>
              <a:buNone/>
            </a:pPr>
            <a:r>
              <a:t/>
            </a:r>
            <a:endParaRPr b="0" i="0" sz="2200" u="none" cap="none" strike="noStrike">
              <a:solidFill>
                <a:srgbClr val="292929"/>
              </a:solidFill>
              <a:latin typeface="Arial"/>
              <a:ea typeface="Arial"/>
              <a:cs typeface="Arial"/>
              <a:sym typeface="Arial"/>
            </a:endParaRPr>
          </a:p>
        </p:txBody>
      </p:sp>
      <p:sp>
        <p:nvSpPr>
          <p:cNvPr id="369" name="Google Shape;369;p37"/>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CCAFS Proximity to the Coastline</a:t>
            </a:r>
            <a:endParaRPr b="0" i="0" sz="1400" u="none" cap="none" strike="noStrike">
              <a:solidFill>
                <a:srgbClr val="000000"/>
              </a:solidFill>
              <a:latin typeface="Arial"/>
              <a:ea typeface="Arial"/>
              <a:cs typeface="Arial"/>
              <a:sym typeface="Arial"/>
            </a:endParaRPr>
          </a:p>
        </p:txBody>
      </p:sp>
      <p:pic>
        <p:nvPicPr>
          <p:cNvPr id="370" name="Google Shape;370;p37" title="Screenshot 2026-02-19 115119.png"/>
          <p:cNvPicPr preferRelativeResize="0"/>
          <p:nvPr/>
        </p:nvPicPr>
        <p:blipFill>
          <a:blip r:embed="rId4">
            <a:alphaModFix/>
          </a:blip>
          <a:stretch>
            <a:fillRect/>
          </a:stretch>
        </p:blipFill>
        <p:spPr>
          <a:xfrm>
            <a:off x="5264350" y="1412100"/>
            <a:ext cx="6541724" cy="33770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4" name="Shape 374"/>
        <p:cNvGrpSpPr/>
        <p:nvPr/>
      </p:nvGrpSpPr>
      <p:grpSpPr>
        <a:xfrm>
          <a:off x="0" y="0"/>
          <a:ext cx="0" cy="0"/>
          <a:chOff x="0" y="0"/>
          <a:chExt cx="0" cy="0"/>
        </a:xfrm>
      </p:grpSpPr>
      <p:sp>
        <p:nvSpPr>
          <p:cNvPr id="375" name="Google Shape;375;p38"/>
          <p:cNvSpPr txBox="1"/>
          <p:nvPr/>
        </p:nvSpPr>
        <p:spPr>
          <a:xfrm>
            <a:off x="797970" y="2529746"/>
            <a:ext cx="1058400" cy="369300"/>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Section 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9" name="Shape 379"/>
        <p:cNvGrpSpPr/>
        <p:nvPr/>
      </p:nvGrpSpPr>
      <p:grpSpPr>
        <a:xfrm>
          <a:off x="0" y="0"/>
          <a:ext cx="0" cy="0"/>
          <a:chOff x="0" y="0"/>
          <a:chExt cx="0" cy="0"/>
        </a:xfrm>
      </p:grpSpPr>
      <p:sp>
        <p:nvSpPr>
          <p:cNvPr id="380" name="Google Shape;380;p39"/>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81" name="Google Shape;381;p39"/>
          <p:cNvSpPr txBox="1"/>
          <p:nvPr>
            <p:ph idx="1" type="body"/>
          </p:nvPr>
        </p:nvSpPr>
        <p:spPr>
          <a:xfrm>
            <a:off x="770001" y="1825625"/>
            <a:ext cx="42486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T</a:t>
            </a:r>
            <a:r>
              <a:rPr b="0" i="0" lang="en-US" sz="2200" u="none" cap="none" strike="noStrike">
                <a:solidFill>
                  <a:srgbClr val="292929"/>
                </a:solidFill>
                <a:latin typeface="Arial"/>
                <a:ea typeface="Arial"/>
                <a:cs typeface="Arial"/>
                <a:sym typeface="Arial"/>
              </a:rPr>
              <a:t>he screenshot shows </a:t>
            </a:r>
            <a:r>
              <a:rPr lang="en-US" sz="2200">
                <a:solidFill>
                  <a:srgbClr val="292929"/>
                </a:solidFill>
              </a:rPr>
              <a:t>total </a:t>
            </a:r>
            <a:r>
              <a:rPr b="0" i="0" lang="en-US" sz="2200" u="none" cap="none" strike="noStrike">
                <a:solidFill>
                  <a:srgbClr val="292929"/>
                </a:solidFill>
                <a:latin typeface="Arial"/>
                <a:ea typeface="Arial"/>
                <a:cs typeface="Arial"/>
                <a:sym typeface="Arial"/>
              </a:rPr>
              <a:t>launch success count for all sites</a:t>
            </a:r>
            <a:r>
              <a:rPr lang="en-US" sz="2200">
                <a:solidFill>
                  <a:srgbClr val="292929"/>
                </a:solidFill>
              </a:rPr>
              <a:t>.</a:t>
            </a:r>
            <a:endParaRPr b="0" i="0" sz="2200" u="none" cap="none" strike="noStrike">
              <a:solidFill>
                <a:srgbClr val="292929"/>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T</a:t>
            </a:r>
            <a:r>
              <a:rPr b="0" i="0" lang="en-US" sz="2200" u="none" cap="none" strike="noStrike">
                <a:solidFill>
                  <a:srgbClr val="292929"/>
                </a:solidFill>
                <a:latin typeface="Arial"/>
                <a:ea typeface="Arial"/>
                <a:cs typeface="Arial"/>
                <a:sym typeface="Arial"/>
              </a:rPr>
              <a:t>he screenshot shows that KSC LC</a:t>
            </a:r>
            <a:r>
              <a:rPr lang="en-US" sz="2200">
                <a:solidFill>
                  <a:srgbClr val="292929"/>
                </a:solidFill>
              </a:rPr>
              <a:t>-39A has the highest percentage of successful launches </a:t>
            </a:r>
            <a:r>
              <a:rPr lang="en-US" sz="2200">
                <a:solidFill>
                  <a:srgbClr val="292929"/>
                </a:solidFill>
              </a:rPr>
              <a:t>followed</a:t>
            </a:r>
            <a:r>
              <a:rPr lang="en-US" sz="2200">
                <a:solidFill>
                  <a:srgbClr val="292929"/>
                </a:solidFill>
              </a:rPr>
              <a:t> by CCAPS LC-40.</a:t>
            </a:r>
            <a:endParaRPr b="0" i="0" sz="2800" u="none" cap="none" strike="noStrike">
              <a:solidFill>
                <a:srgbClr val="292929"/>
              </a:solidFill>
              <a:latin typeface="Arial"/>
              <a:ea typeface="Arial"/>
              <a:cs typeface="Arial"/>
              <a:sym typeface="Arial"/>
            </a:endParaRPr>
          </a:p>
          <a:p>
            <a:pPr indent="-88900" lvl="0" marL="228600" marR="0" rtl="0" algn="l">
              <a:lnSpc>
                <a:spcPct val="100000"/>
              </a:lnSpc>
              <a:spcBef>
                <a:spcPts val="1400"/>
              </a:spcBef>
              <a:spcAft>
                <a:spcPts val="0"/>
              </a:spcAft>
              <a:buClr>
                <a:schemeClr val="dk1"/>
              </a:buClr>
              <a:buSzPts val="2200"/>
              <a:buFont typeface="Arial"/>
              <a:buNone/>
            </a:pPr>
            <a:r>
              <a:t/>
            </a:r>
            <a:endParaRPr b="0" i="0" sz="2200" u="none" cap="none" strike="noStrike">
              <a:solidFill>
                <a:srgbClr val="292929"/>
              </a:solidFill>
              <a:latin typeface="Arial"/>
              <a:ea typeface="Arial"/>
              <a:cs typeface="Arial"/>
              <a:sym typeface="Arial"/>
            </a:endParaRPr>
          </a:p>
        </p:txBody>
      </p:sp>
      <p:sp>
        <p:nvSpPr>
          <p:cNvPr id="382" name="Google Shape;382;p39"/>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Launch success count for all sites</a:t>
            </a:r>
            <a:endParaRPr b="0" i="0" sz="1400" u="none" cap="none" strike="noStrike">
              <a:solidFill>
                <a:srgbClr val="000000"/>
              </a:solidFill>
              <a:latin typeface="Arial"/>
              <a:ea typeface="Arial"/>
              <a:cs typeface="Arial"/>
              <a:sym typeface="Arial"/>
            </a:endParaRPr>
          </a:p>
        </p:txBody>
      </p:sp>
      <p:pic>
        <p:nvPicPr>
          <p:cNvPr id="383" name="Google Shape;383;p39" title="Screenshot 2026-02-19 142751.png"/>
          <p:cNvPicPr preferRelativeResize="0"/>
          <p:nvPr/>
        </p:nvPicPr>
        <p:blipFill>
          <a:blip r:embed="rId4">
            <a:alphaModFix/>
          </a:blip>
          <a:stretch>
            <a:fillRect/>
          </a:stretch>
        </p:blipFill>
        <p:spPr>
          <a:xfrm>
            <a:off x="5233075" y="1672550"/>
            <a:ext cx="5254052" cy="25493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7" name="Shape 387"/>
        <p:cNvGrpSpPr/>
        <p:nvPr/>
      </p:nvGrpSpPr>
      <p:grpSpPr>
        <a:xfrm>
          <a:off x="0" y="0"/>
          <a:ext cx="0" cy="0"/>
          <a:chOff x="0" y="0"/>
          <a:chExt cx="0" cy="0"/>
        </a:xfrm>
      </p:grpSpPr>
      <p:sp>
        <p:nvSpPr>
          <p:cNvPr id="388" name="Google Shape;388;p40"/>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89" name="Google Shape;389;p40"/>
          <p:cNvSpPr txBox="1"/>
          <p:nvPr>
            <p:ph idx="1" type="body"/>
          </p:nvPr>
        </p:nvSpPr>
        <p:spPr>
          <a:xfrm>
            <a:off x="734025" y="1825625"/>
            <a:ext cx="54276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KSC LC-39A has the highest launches with 77% success rate .</a:t>
            </a:r>
            <a:endParaRPr b="0" i="0" sz="2800" u="none" cap="none" strike="noStrike">
              <a:solidFill>
                <a:srgbClr val="292929"/>
              </a:solidFill>
              <a:latin typeface="Arial"/>
              <a:ea typeface="Arial"/>
              <a:cs typeface="Arial"/>
              <a:sym typeface="Aria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90" name="Google Shape;390;p40"/>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Highest launch success site </a:t>
            </a:r>
            <a:endParaRPr b="0" i="0" sz="1400" u="none" cap="none" strike="noStrike">
              <a:solidFill>
                <a:srgbClr val="000000"/>
              </a:solidFill>
              <a:latin typeface="Arial"/>
              <a:ea typeface="Arial"/>
              <a:cs typeface="Arial"/>
              <a:sym typeface="Arial"/>
            </a:endParaRPr>
          </a:p>
        </p:txBody>
      </p:sp>
      <p:pic>
        <p:nvPicPr>
          <p:cNvPr id="391" name="Google Shape;391;p40" title="Screenshot 2026-02-19 143003.png"/>
          <p:cNvPicPr preferRelativeResize="0"/>
          <p:nvPr/>
        </p:nvPicPr>
        <p:blipFill>
          <a:blip r:embed="rId4">
            <a:alphaModFix/>
          </a:blip>
          <a:stretch>
            <a:fillRect/>
          </a:stretch>
        </p:blipFill>
        <p:spPr>
          <a:xfrm>
            <a:off x="6345900" y="1879150"/>
            <a:ext cx="5570801" cy="20496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5" name="Shape 395"/>
        <p:cNvGrpSpPr/>
        <p:nvPr/>
      </p:nvGrpSpPr>
      <p:grpSpPr>
        <a:xfrm>
          <a:off x="0" y="0"/>
          <a:ext cx="0" cy="0"/>
          <a:chOff x="0" y="0"/>
          <a:chExt cx="0" cy="0"/>
        </a:xfrm>
      </p:grpSpPr>
      <p:sp>
        <p:nvSpPr>
          <p:cNvPr id="396" name="Google Shape;396;p41"/>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397" name="Google Shape;397;p41"/>
          <p:cNvSpPr txBox="1"/>
          <p:nvPr>
            <p:ph idx="1" type="body"/>
          </p:nvPr>
        </p:nvSpPr>
        <p:spPr>
          <a:xfrm>
            <a:off x="770000" y="3766175"/>
            <a:ext cx="8247600" cy="1971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688"/>
              <a:buNone/>
            </a:pPr>
            <a:r>
              <a:rPr lang="en-US" sz="1087">
                <a:solidFill>
                  <a:schemeClr val="dk1"/>
                </a:solidFill>
              </a:rPr>
              <a:t>The analysis of the scatter plots reveals that while Payload Mass is a variable, the Booster Version is the primary driver of mission success.</a:t>
            </a:r>
            <a:endParaRPr sz="1087">
              <a:solidFill>
                <a:schemeClr val="dk1"/>
              </a:solidFill>
            </a:endParaRPr>
          </a:p>
          <a:p>
            <a:pPr indent="-297656" lvl="0" marL="457200" rtl="0" algn="l">
              <a:lnSpc>
                <a:spcPct val="115000"/>
              </a:lnSpc>
              <a:spcBef>
                <a:spcPts val="1200"/>
              </a:spcBef>
              <a:spcAft>
                <a:spcPts val="0"/>
              </a:spcAft>
              <a:buClr>
                <a:schemeClr val="dk1"/>
              </a:buClr>
              <a:buSzPts val="1088"/>
              <a:buChar char="●"/>
            </a:pPr>
            <a:r>
              <a:rPr b="1" lang="en-US" sz="1087">
                <a:solidFill>
                  <a:schemeClr val="dk1"/>
                </a:solidFill>
              </a:rPr>
              <a:t>Success Trends:</a:t>
            </a:r>
            <a:r>
              <a:rPr lang="en-US" sz="1087">
                <a:solidFill>
                  <a:schemeClr val="dk1"/>
                </a:solidFill>
              </a:rPr>
              <a:t> The transition from early iterations like v1.0 and v1.1 to the FT and B5 versions shows a clear upward trajectory in reliability regardless of the payload weight.</a:t>
            </a:r>
            <a:endParaRPr sz="1087">
              <a:solidFill>
                <a:schemeClr val="dk1"/>
              </a:solidFill>
            </a:endParaRPr>
          </a:p>
          <a:p>
            <a:pPr indent="-297656" lvl="0" marL="457200" rtl="0" algn="l">
              <a:lnSpc>
                <a:spcPct val="115000"/>
              </a:lnSpc>
              <a:spcBef>
                <a:spcPts val="0"/>
              </a:spcBef>
              <a:spcAft>
                <a:spcPts val="0"/>
              </a:spcAft>
              <a:buClr>
                <a:schemeClr val="dk1"/>
              </a:buClr>
              <a:buSzPts val="1088"/>
              <a:buChar char="●"/>
            </a:pPr>
            <a:r>
              <a:rPr b="1" lang="en-US" sz="1087">
                <a:solidFill>
                  <a:schemeClr val="dk1"/>
                </a:solidFill>
              </a:rPr>
              <a:t>Optimal Performance:</a:t>
            </a:r>
            <a:r>
              <a:rPr lang="en-US" sz="1087">
                <a:solidFill>
                  <a:schemeClr val="dk1"/>
                </a:solidFill>
              </a:rPr>
              <a:t> The B5 booster stands out as the most robust version, maintaining a near-perfect success record across both low and high payload categories.</a:t>
            </a:r>
            <a:endParaRPr sz="1087">
              <a:solidFill>
                <a:schemeClr val="dk1"/>
              </a:solidFill>
            </a:endParaRPr>
          </a:p>
          <a:p>
            <a:pPr indent="-284956" lvl="0" marL="457200" rtl="0" algn="l">
              <a:lnSpc>
                <a:spcPct val="115000"/>
              </a:lnSpc>
              <a:spcBef>
                <a:spcPts val="0"/>
              </a:spcBef>
              <a:spcAft>
                <a:spcPts val="0"/>
              </a:spcAft>
              <a:buClr>
                <a:schemeClr val="dk1"/>
              </a:buClr>
              <a:buSzPts val="888"/>
              <a:buChar char="●"/>
            </a:pPr>
            <a:r>
              <a:rPr b="1" lang="en-US" sz="1087">
                <a:solidFill>
                  <a:schemeClr val="dk1"/>
                </a:solidFill>
              </a:rPr>
              <a:t>Operational Reliability:</a:t>
            </a:r>
            <a:r>
              <a:rPr lang="en-US" sz="1087">
                <a:solidFill>
                  <a:schemeClr val="dk1"/>
                </a:solidFill>
              </a:rPr>
              <a:t> While heavier payloads (above 5,000 kg) were historically challenging, the data confirms that modern SpaceX hardware has effectively "de-risked" these missions, making launch outcomes more predictable for commercial and government clients.</a:t>
            </a:r>
            <a:r>
              <a:rPr b="0" i="0" lang="en-US" sz="1775" u="none" cap="none" strike="noStrike">
                <a:solidFill>
                  <a:srgbClr val="292929"/>
                </a:solidFill>
                <a:latin typeface="Arial"/>
                <a:ea typeface="Arial"/>
                <a:cs typeface="Arial"/>
                <a:sym typeface="Arial"/>
              </a:rPr>
              <a:t>.</a:t>
            </a:r>
            <a:endParaRPr b="0" i="0" sz="1775" u="none" cap="none" strike="noStrike">
              <a:solidFill>
                <a:srgbClr val="292929"/>
              </a:solidFill>
              <a:latin typeface="Arial"/>
              <a:ea typeface="Arial"/>
              <a:cs typeface="Arial"/>
              <a:sym typeface="Arial"/>
            </a:endParaRPr>
          </a:p>
          <a:p>
            <a:pPr indent="-88900" lvl="0" marL="228600" marR="0" rtl="0" algn="l">
              <a:lnSpc>
                <a:spcPct val="100000"/>
              </a:lnSpc>
              <a:spcBef>
                <a:spcPts val="1400"/>
              </a:spcBef>
              <a:spcAft>
                <a:spcPts val="0"/>
              </a:spcAft>
              <a:buClr>
                <a:schemeClr val="dk1"/>
              </a:buClr>
              <a:buSzPts val="1375"/>
              <a:buFont typeface="Arial"/>
              <a:buNone/>
            </a:pPr>
            <a:r>
              <a:t/>
            </a:r>
            <a:endParaRPr b="0" i="0" sz="1675" u="none" cap="none" strike="noStrike">
              <a:solidFill>
                <a:srgbClr val="292929"/>
              </a:solidFill>
              <a:latin typeface="Arial"/>
              <a:ea typeface="Arial"/>
              <a:cs typeface="Arial"/>
              <a:sym typeface="Arial"/>
            </a:endParaRPr>
          </a:p>
        </p:txBody>
      </p:sp>
      <p:sp>
        <p:nvSpPr>
          <p:cNvPr id="398" name="Google Shape;398;p41"/>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90000"/>
              </a:lnSpc>
              <a:spcBef>
                <a:spcPts val="0"/>
              </a:spcBef>
              <a:spcAft>
                <a:spcPts val="0"/>
              </a:spcAft>
              <a:buClr>
                <a:srgbClr val="0B49CB"/>
              </a:buClr>
              <a:buSzPts val="4000"/>
              <a:buFont typeface="Arial"/>
              <a:buNone/>
            </a:pPr>
            <a:r>
              <a:rPr lang="en-US" sz="4000">
                <a:solidFill>
                  <a:srgbClr val="0B49CB"/>
                </a:solidFill>
              </a:rPr>
              <a:t>Scatter plot of Payload vs Launch Outcome</a:t>
            </a:r>
            <a:endParaRPr b="0" i="0" sz="1400" u="none" cap="none" strike="noStrike">
              <a:solidFill>
                <a:srgbClr val="000000"/>
              </a:solidFill>
              <a:latin typeface="Arial"/>
              <a:ea typeface="Arial"/>
              <a:cs typeface="Arial"/>
              <a:sym typeface="Arial"/>
            </a:endParaRPr>
          </a:p>
        </p:txBody>
      </p:sp>
      <p:pic>
        <p:nvPicPr>
          <p:cNvPr id="399" name="Google Shape;399;p41" title="Screenshot 2026-02-19 143300.png"/>
          <p:cNvPicPr preferRelativeResize="0"/>
          <p:nvPr/>
        </p:nvPicPr>
        <p:blipFill>
          <a:blip r:embed="rId4">
            <a:alphaModFix/>
          </a:blip>
          <a:stretch>
            <a:fillRect/>
          </a:stretch>
        </p:blipFill>
        <p:spPr>
          <a:xfrm>
            <a:off x="935600" y="1298650"/>
            <a:ext cx="5160402" cy="2130350"/>
          </a:xfrm>
          <a:prstGeom prst="rect">
            <a:avLst/>
          </a:prstGeom>
          <a:noFill/>
          <a:ln>
            <a:noFill/>
          </a:ln>
        </p:spPr>
      </p:pic>
      <p:pic>
        <p:nvPicPr>
          <p:cNvPr id="400" name="Google Shape;400;p41" title="Screenshot 2026-02-19 143315.png"/>
          <p:cNvPicPr preferRelativeResize="0"/>
          <p:nvPr/>
        </p:nvPicPr>
        <p:blipFill>
          <a:blip r:embed="rId5">
            <a:alphaModFix/>
          </a:blip>
          <a:stretch>
            <a:fillRect/>
          </a:stretch>
        </p:blipFill>
        <p:spPr>
          <a:xfrm>
            <a:off x="6401475" y="1331399"/>
            <a:ext cx="5160402" cy="21303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4" name="Shape 404"/>
        <p:cNvGrpSpPr/>
        <p:nvPr/>
      </p:nvGrpSpPr>
      <p:grpSpPr>
        <a:xfrm>
          <a:off x="0" y="0"/>
          <a:ext cx="0" cy="0"/>
          <a:chOff x="0" y="0"/>
          <a:chExt cx="0" cy="0"/>
        </a:xfrm>
      </p:grpSpPr>
      <p:sp>
        <p:nvSpPr>
          <p:cNvPr id="405" name="Google Shape;405;p42"/>
          <p:cNvSpPr txBox="1"/>
          <p:nvPr/>
        </p:nvSpPr>
        <p:spPr>
          <a:xfrm>
            <a:off x="797970" y="2529746"/>
            <a:ext cx="1058400" cy="369300"/>
          </a:xfrm>
          <a:prstGeom prst="rect">
            <a:avLst/>
          </a:prstGeom>
          <a:solidFill>
            <a:srgbClr val="0948CB"/>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Section 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9" name="Shape 409"/>
        <p:cNvGrpSpPr/>
        <p:nvPr/>
      </p:nvGrpSpPr>
      <p:grpSpPr>
        <a:xfrm>
          <a:off x="0" y="0"/>
          <a:ext cx="0" cy="0"/>
          <a:chOff x="0" y="0"/>
          <a:chExt cx="0" cy="0"/>
        </a:xfrm>
      </p:grpSpPr>
      <p:sp>
        <p:nvSpPr>
          <p:cNvPr id="410" name="Google Shape;410;p43"/>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411" name="Google Shape;411;p43"/>
          <p:cNvSpPr txBox="1"/>
          <p:nvPr>
            <p:ph idx="1" type="body"/>
          </p:nvPr>
        </p:nvSpPr>
        <p:spPr>
          <a:xfrm>
            <a:off x="770010" y="2082114"/>
            <a:ext cx="5325900" cy="38115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Decision tree</a:t>
            </a:r>
            <a:r>
              <a:rPr b="0" i="0" lang="en-US" sz="2200" u="none" cap="none" strike="noStrike">
                <a:solidFill>
                  <a:srgbClr val="292929"/>
                </a:solidFill>
                <a:latin typeface="Arial"/>
                <a:ea typeface="Arial"/>
                <a:cs typeface="Arial"/>
                <a:sym typeface="Arial"/>
              </a:rPr>
              <a:t> model has the highest classification accuracy of 87%.</a:t>
            </a:r>
            <a:endParaRPr b="0" i="0" sz="1400" u="none" cap="none" strike="noStrike">
              <a:solidFill>
                <a:srgbClr val="000000"/>
              </a:solidFill>
              <a:latin typeface="Arial"/>
              <a:ea typeface="Arial"/>
              <a:cs typeface="Arial"/>
              <a:sym typeface="Arial"/>
            </a:endParaRPr>
          </a:p>
        </p:txBody>
      </p:sp>
      <p:sp>
        <p:nvSpPr>
          <p:cNvPr id="412" name="Google Shape;412;p43"/>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Classification Accuracy</a:t>
            </a:r>
            <a:endParaRPr b="0" i="0" sz="4000" u="none" cap="none" strike="noStrike">
              <a:solidFill>
                <a:srgbClr val="0B49CB"/>
              </a:solidFill>
              <a:latin typeface="IBM Plex Mono SemiBold"/>
              <a:ea typeface="IBM Plex Mono SemiBold"/>
              <a:cs typeface="IBM Plex Mono SemiBold"/>
              <a:sym typeface="IBM Plex Mono SemiBold"/>
            </a:endParaRPr>
          </a:p>
        </p:txBody>
      </p:sp>
      <p:pic>
        <p:nvPicPr>
          <p:cNvPr id="413" name="Google Shape;413;p43" title="output.png"/>
          <p:cNvPicPr preferRelativeResize="0"/>
          <p:nvPr/>
        </p:nvPicPr>
        <p:blipFill>
          <a:blip r:embed="rId4">
            <a:alphaModFix/>
          </a:blip>
          <a:stretch>
            <a:fillRect/>
          </a:stretch>
        </p:blipFill>
        <p:spPr>
          <a:xfrm>
            <a:off x="6236760" y="1610250"/>
            <a:ext cx="5791291" cy="363750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7" name="Shape 417"/>
        <p:cNvGrpSpPr/>
        <p:nvPr/>
      </p:nvGrpSpPr>
      <p:grpSpPr>
        <a:xfrm>
          <a:off x="0" y="0"/>
          <a:ext cx="0" cy="0"/>
          <a:chOff x="0" y="0"/>
          <a:chExt cx="0" cy="0"/>
        </a:xfrm>
      </p:grpSpPr>
      <p:sp>
        <p:nvSpPr>
          <p:cNvPr id="418" name="Google Shape;418;p44"/>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419" name="Google Shape;419;p44"/>
          <p:cNvSpPr txBox="1"/>
          <p:nvPr>
            <p:ph idx="1" type="body"/>
          </p:nvPr>
        </p:nvSpPr>
        <p:spPr>
          <a:xfrm>
            <a:off x="770006" y="2057400"/>
            <a:ext cx="4083000" cy="3811500"/>
          </a:xfrm>
          <a:prstGeom prst="rect">
            <a:avLst/>
          </a:prstGeom>
          <a:noFill/>
          <a:ln>
            <a:noFill/>
          </a:ln>
        </p:spPr>
        <p:txBody>
          <a:bodyPr anchorCtr="0" anchor="t" bIns="45700" lIns="91425" spcFirstLastPara="1" rIns="91425" wrap="square" tIns="45700">
            <a:normAutofit/>
          </a:bodyPr>
          <a:lstStyle/>
          <a:p>
            <a:pPr indent="-247650" lvl="0" marL="228600" marR="0" rtl="0" algn="l">
              <a:lnSpc>
                <a:spcPct val="100000"/>
              </a:lnSpc>
              <a:spcBef>
                <a:spcPts val="0"/>
              </a:spcBef>
              <a:spcAft>
                <a:spcPts val="0"/>
              </a:spcAft>
              <a:buClr>
                <a:srgbClr val="292929"/>
              </a:buClr>
              <a:buSzPts val="2500"/>
              <a:buFont typeface="Arial"/>
              <a:buChar char="•"/>
            </a:pPr>
            <a:r>
              <a:rPr lang="en-US">
                <a:solidFill>
                  <a:schemeClr val="dk1"/>
                </a:solidFill>
              </a:rPr>
              <a:t>The model is highly effective, achieving an overall accuracy of approximately 89</a:t>
            </a:r>
            <a:r>
              <a:rPr b="1" lang="en-US">
                <a:solidFill>
                  <a:schemeClr val="dk1"/>
                </a:solidFill>
              </a:rPr>
              <a:t>%</a:t>
            </a:r>
            <a:r>
              <a:rPr lang="en-US">
                <a:solidFill>
                  <a:schemeClr val="dk1"/>
                </a:solidFill>
              </a:rPr>
              <a:t> (16/18 correct predictions). It shows a strong ability to identify successful landings (High Recall) and rarely confuses one class for the other, suggesting it is well-tuned for this classification task.</a:t>
            </a:r>
            <a:endParaRPr b="0" i="0" sz="1700" u="none" cap="none" strike="noStrike">
              <a:solidFill>
                <a:srgbClr val="000000"/>
              </a:solidFill>
              <a:latin typeface="Arial"/>
              <a:ea typeface="Arial"/>
              <a:cs typeface="Arial"/>
              <a:sym typeface="Arial"/>
            </a:endParaRPr>
          </a:p>
        </p:txBody>
      </p:sp>
      <p:sp>
        <p:nvSpPr>
          <p:cNvPr id="420" name="Google Shape;420;p44"/>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Confusion Matrix</a:t>
            </a:r>
            <a:endParaRPr b="0" i="0" sz="4000" u="none" cap="none" strike="noStrike">
              <a:solidFill>
                <a:srgbClr val="0B49CB"/>
              </a:solidFill>
              <a:latin typeface="IBM Plex Mono SemiBold"/>
              <a:ea typeface="IBM Plex Mono SemiBold"/>
              <a:cs typeface="IBM Plex Mono SemiBold"/>
              <a:sym typeface="IBM Plex Mono SemiBold"/>
            </a:endParaRPr>
          </a:p>
        </p:txBody>
      </p:sp>
      <p:pic>
        <p:nvPicPr>
          <p:cNvPr id="421" name="Google Shape;421;p44" title="matrix.png"/>
          <p:cNvPicPr preferRelativeResize="0"/>
          <p:nvPr/>
        </p:nvPicPr>
        <p:blipFill>
          <a:blip r:embed="rId4">
            <a:alphaModFix/>
          </a:blip>
          <a:stretch>
            <a:fillRect/>
          </a:stretch>
        </p:blipFill>
        <p:spPr>
          <a:xfrm>
            <a:off x="5744331" y="1710750"/>
            <a:ext cx="5048250" cy="4314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5" name="Shape 425"/>
        <p:cNvGrpSpPr/>
        <p:nvPr/>
      </p:nvGrpSpPr>
      <p:grpSpPr>
        <a:xfrm>
          <a:off x="0" y="0"/>
          <a:ext cx="0" cy="0"/>
          <a:chOff x="0" y="0"/>
          <a:chExt cx="0" cy="0"/>
        </a:xfrm>
      </p:grpSpPr>
      <p:sp>
        <p:nvSpPr>
          <p:cNvPr id="426" name="Google Shape;426;p45"/>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427" name="Google Shape;427;p45"/>
          <p:cNvSpPr txBox="1"/>
          <p:nvPr>
            <p:ph idx="1" type="body"/>
          </p:nvPr>
        </p:nvSpPr>
        <p:spPr>
          <a:xfrm>
            <a:off x="770011" y="1875054"/>
            <a:ext cx="59040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lang="en-US" sz="2200">
                <a:solidFill>
                  <a:srgbClr val="292929"/>
                </a:solidFill>
              </a:rPr>
              <a:t>Landing success can be predicted with over 87% accuracy using launch features.</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Payload mass (3kg-7kg), recent booster versions (Block 5), and specific launch sites (KSC LC-39A) are the strongest predictors.</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1400"/>
              </a:spcBef>
              <a:spcAft>
                <a:spcPts val="0"/>
              </a:spcAft>
              <a:buClr>
                <a:srgbClr val="292929"/>
              </a:buClr>
              <a:buSzPts val="2200"/>
              <a:buFont typeface="Arial"/>
              <a:buChar char="•"/>
            </a:pPr>
            <a:r>
              <a:rPr lang="en-US" sz="2200">
                <a:solidFill>
                  <a:srgbClr val="292929"/>
                </a:solidFill>
              </a:rPr>
              <a:t>The yearly success trend confirms that SpaceX has successfully transitioned landing from an experiment to a routine operation</a:t>
            </a:r>
            <a:endParaRPr b="0" i="0" sz="1400" u="none" cap="none" strike="noStrike">
              <a:solidFill>
                <a:srgbClr val="000000"/>
              </a:solidFill>
              <a:latin typeface="Arial"/>
              <a:ea typeface="Arial"/>
              <a:cs typeface="Arial"/>
              <a:sym typeface="Arial"/>
            </a:endParaRPr>
          </a:p>
        </p:txBody>
      </p:sp>
      <p:sp>
        <p:nvSpPr>
          <p:cNvPr id="428" name="Google Shape;428;p45"/>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Conclusions</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3" name="Shape 433"/>
        <p:cNvGrpSpPr/>
        <p:nvPr/>
      </p:nvGrpSpPr>
      <p:grpSpPr>
        <a:xfrm>
          <a:off x="0" y="0"/>
          <a:ext cx="0" cy="0"/>
          <a:chOff x="0" y="0"/>
          <a:chExt cx="0" cy="0"/>
        </a:xfrm>
      </p:grpSpPr>
      <p:sp>
        <p:nvSpPr>
          <p:cNvPr id="434" name="Google Shape;434;p46"/>
          <p:cNvSpPr txBox="1"/>
          <p:nvPr>
            <p:ph idx="12" type="sldNum"/>
          </p:nvPr>
        </p:nvSpPr>
        <p:spPr>
          <a:xfrm>
            <a:off x="8714772" y="6025573"/>
            <a:ext cx="2743200" cy="401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600"/>
              <a:buNone/>
            </a:pPr>
            <a:fld id="{00000000-1234-1234-1234-123412341234}" type="slidenum">
              <a:rPr lang="en-US"/>
              <a:t>‹#›</a:t>
            </a:fld>
            <a:endParaRPr/>
          </a:p>
        </p:txBody>
      </p:sp>
      <p:sp>
        <p:nvSpPr>
          <p:cNvPr id="435" name="Google Shape;435;p46"/>
          <p:cNvSpPr txBox="1"/>
          <p:nvPr>
            <p:ph idx="1" type="body"/>
          </p:nvPr>
        </p:nvSpPr>
        <p:spPr>
          <a:xfrm>
            <a:off x="770011" y="1859522"/>
            <a:ext cx="10515600" cy="4351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92929"/>
              </a:buClr>
              <a:buSzPts val="2200"/>
              <a:buChar char="•"/>
            </a:pPr>
            <a:r>
              <a:rPr lang="en-US" sz="2200">
                <a:solidFill>
                  <a:srgbClr val="292929"/>
                </a:solidFill>
              </a:rPr>
              <a:t>SQL database used </a:t>
            </a:r>
            <a:r>
              <a:rPr lang="en-US" sz="2200" u="sng">
                <a:solidFill>
                  <a:schemeClr val="hlink"/>
                </a:solidFill>
                <a:hlinkClick r:id="rId4"/>
              </a:rPr>
              <a:t>https://github.com/Anusa123/Data-Science-Projects/blob/main/Capstone%20Projects/my_data1.db</a:t>
            </a:r>
            <a:endParaRPr sz="2200">
              <a:solidFill>
                <a:srgbClr val="292929"/>
              </a:solidFill>
            </a:endParaRPr>
          </a:p>
          <a:p>
            <a:pPr indent="-228600" lvl="0" marL="228600" marR="0" rtl="0" algn="l">
              <a:lnSpc>
                <a:spcPct val="100000"/>
              </a:lnSpc>
              <a:spcBef>
                <a:spcPts val="0"/>
              </a:spcBef>
              <a:spcAft>
                <a:spcPts val="0"/>
              </a:spcAft>
              <a:buClr>
                <a:srgbClr val="292929"/>
              </a:buClr>
              <a:buSzPts val="2200"/>
              <a:buChar char="•"/>
            </a:pPr>
            <a:r>
              <a:rPr lang="en-US" sz="2200">
                <a:solidFill>
                  <a:srgbClr val="292929"/>
                </a:solidFill>
              </a:rPr>
              <a:t>Predictive Analysis dataset </a:t>
            </a:r>
            <a:r>
              <a:rPr lang="en-US" sz="2200" u="sng">
                <a:solidFill>
                  <a:schemeClr val="hlink"/>
                </a:solidFill>
                <a:hlinkClick r:id="rId5"/>
              </a:rPr>
              <a:t>https://github.com/Anusa123/Data-Science-Projects/blob/main/Capstone%20Projects/interactive%20dash%20with%20plotly/spacex_launch_dash.csv</a:t>
            </a:r>
            <a:endParaRPr sz="2200">
              <a:solidFill>
                <a:srgbClr val="292929"/>
              </a:solidFill>
            </a:endParaRPr>
          </a:p>
          <a:p>
            <a:pPr indent="-228600" lvl="0" marL="228600" marR="0" rtl="0" algn="l">
              <a:lnSpc>
                <a:spcPct val="100000"/>
              </a:lnSpc>
              <a:spcBef>
                <a:spcPts val="0"/>
              </a:spcBef>
              <a:spcAft>
                <a:spcPts val="0"/>
              </a:spcAft>
              <a:buClr>
                <a:srgbClr val="292929"/>
              </a:buClr>
              <a:buSzPts val="2200"/>
              <a:buChar char="•"/>
            </a:pPr>
            <a:r>
              <a:rPr lang="en-US" sz="2200">
                <a:solidFill>
                  <a:srgbClr val="292929"/>
                </a:solidFill>
              </a:rPr>
              <a:t>Notebooks github link </a:t>
            </a:r>
            <a:r>
              <a:rPr lang="en-US" sz="2200" u="sng">
                <a:solidFill>
                  <a:schemeClr val="hlink"/>
                </a:solidFill>
                <a:hlinkClick r:id="rId6"/>
              </a:rPr>
              <a:t>https://github.com/Anusa123/Data-Science-Projects/tree/main/Capstone%20Projects</a:t>
            </a:r>
            <a:endParaRPr sz="2200">
              <a:solidFill>
                <a:srgbClr val="292929"/>
              </a:solidFill>
            </a:endParaRPr>
          </a:p>
        </p:txBody>
      </p:sp>
      <p:sp>
        <p:nvSpPr>
          <p:cNvPr id="436" name="Google Shape;436;p46"/>
          <p:cNvSpPr txBox="1"/>
          <p:nvPr/>
        </p:nvSpPr>
        <p:spPr>
          <a:xfrm>
            <a:off x="770011" y="538650"/>
            <a:ext cx="10515600" cy="5490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B49CB"/>
              </a:buClr>
              <a:buSzPct val="100000"/>
              <a:buFont typeface="Arial"/>
              <a:buNone/>
            </a:pPr>
            <a:r>
              <a:rPr b="0" i="0" lang="en-US" sz="4000" u="none" cap="none" strike="noStrike">
                <a:solidFill>
                  <a:srgbClr val="0B49CB"/>
                </a:solidFill>
                <a:latin typeface="Arial"/>
                <a:ea typeface="Arial"/>
                <a:cs typeface="Arial"/>
                <a:sym typeface="Arial"/>
              </a:rPr>
              <a:t>Appendix</a:t>
            </a:r>
            <a:endParaRPr b="0" i="0" sz="4000" u="none" cap="none" strike="noStrike">
              <a:solidFill>
                <a:srgbClr val="0B49CB"/>
              </a:solidFill>
              <a:latin typeface="IBM Plex Mono SemiBold"/>
              <a:ea typeface="IBM Plex Mono SemiBold"/>
              <a:cs typeface="IBM Plex Mono SemiBold"/>
              <a:sym typeface="IBM Plex Mono SemiBo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0" name="Shape 440"/>
        <p:cNvGrpSpPr/>
        <p:nvPr/>
      </p:nvGrpSpPr>
      <p:grpSpPr>
        <a:xfrm>
          <a:off x="0" y="0"/>
          <a:ext cx="0" cy="0"/>
          <a:chOff x="0" y="0"/>
          <a:chExt cx="0" cy="0"/>
        </a:xfrm>
      </p:grpSpPr>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